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PORT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tory-win/Galaxy_Express_99" TargetMode="External"/><Relationship Id="rId2" Type="http://schemas.openxmlformats.org/officeDocument/2006/relationships/hyperlink" Target="https://macmini.tailbba978.ts.net/galaxy-express/preview/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23560" cy="6858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520440" y="-777240"/>
            <a:ext cx="3657600" cy="3657600"/>
          </a:xfrm>
          <a:prstGeom prst="ellipse">
            <a:avLst/>
          </a:prstGeom>
          <a:solidFill>
            <a:srgbClr val="1769FF">
              <a:alpha val="34000"/>
            </a:srgbClr>
          </a:solidFill>
          <a:ln w="12700">
            <a:solidFill>
              <a:srgbClr val="1769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343400" y="4462272"/>
            <a:ext cx="1920240" cy="1920240"/>
          </a:xfrm>
          <a:prstGeom prst="ellipse">
            <a:avLst/>
          </a:prstGeom>
          <a:solidFill>
            <a:srgbClr val="39D98A">
              <a:alpha val="22000"/>
            </a:srgbClr>
          </a:solidFill>
          <a:ln w="12700">
            <a:solidFill>
              <a:srgbClr val="39D98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30352" y="438912"/>
            <a:ext cx="2267712" cy="274320"/>
          </a:xfrm>
          <a:prstGeom prst="roundRect">
            <a:avLst>
              <a:gd name="adj" fmla="val 26667"/>
            </a:avLst>
          </a:prstGeom>
          <a:solidFill>
            <a:srgbClr val="15345C"/>
          </a:solidFill>
          <a:ln w="12700">
            <a:solidFill>
              <a:srgbClr val="1534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03504" y="448056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은하철도99  |  MOVE AI CHALLENGE 2026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1225296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플러스 물류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9019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KORAIL PLUS LOGISTICS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542032"/>
            <a:ext cx="44622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우리가 화주에게
다가갑니다</a:t>
            </a:r>
            <a:endParaRPr lang="en-US" sz="2300" dirty="0"/>
          </a:p>
          <a:p>
            <a:pPr indent="0" marL="0">
              <a:buNone/>
            </a:pP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548640" y="372160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2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화주가 철도를 찾아 헤매지 않도록,
코레일이 먼저 가능한 운송 조건을 설계하고 제안합니다.</a:t>
            </a:r>
            <a:endParaRPr lang="en-US" sz="1120" dirty="0"/>
          </a:p>
          <a:p>
            <a:pPr indent="0" marL="0">
              <a:lnSpc>
                <a:spcPct val="105000"/>
              </a:lnSpc>
              <a:buNone/>
            </a:pP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6121908" y="571500"/>
            <a:ext cx="2587752" cy="5483071"/>
          </a:xfrm>
          <a:prstGeom prst="roundRect">
            <a:avLst>
              <a:gd name="adj" fmla="val 2827"/>
            </a:avLst>
          </a:prstGeom>
          <a:solidFill>
            <a:srgbClr val="FFFFFF"/>
          </a:solidFill>
          <a:ln w="13970">
            <a:solidFill>
              <a:srgbClr val="BFD0E7"/>
            </a:solidFill>
            <a:prstDash val="solid"/>
          </a:ln>
          <a:effectLst>
            <a:outerShdw sx="100000" sy="100000" kx="0" ky="0" algn="bl" rotWithShape="0" blurRad="25400" dist="50800" dir="2700000">
              <a:srgbClr val="0B1F3A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2" name="Image 0" descr="/Users/tory/Desktop/기획/최종결과보고서_산출물/제품_캡처/11-live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621792"/>
            <a:ext cx="2487168" cy="5382487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601968" y="623620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spc="120" kern="0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통합 물류 서비스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문제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화주는 문전 운송부터 도착 마감까지, 실제 실행 가능한 하나의 답을 원합니다.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298448"/>
            <a:ext cx="8138160" cy="585216"/>
          </a:xfrm>
          <a:prstGeom prst="roundRect">
            <a:avLst>
              <a:gd name="adj" fmla="val 12500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408176"/>
            <a:ext cx="7626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“이용 의향은 있어도 누구에게 무엇을 묻고, 어떤 조건을 바꿔야 하는지 알기 어렵습니다.”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  <a:effectLst>
            <a:outerShdw sx="100000" sy="100000" kx="0" ky="0" algn="bl" rotWithShape="0" blurRad="322580000" dist="645160000" dir="162000000000">
              <a:srgbClr val="0B1F3A">
                <a:alpha val="130000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8368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수송 가능성이 불확실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58368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수송력·화차·역 시설·출하일·도착 마감이 동시에 맞는지 미리 알기 어렵습니다.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3273552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7780">
            <a:solidFill>
              <a:srgbClr val="1769FF"/>
            </a:solidFill>
            <a:prstDash val="solid"/>
          </a:ln>
          <a:effectLst>
            <a:outerShdw sx="100000" sy="100000" kx="0" ky="0" algn="bl" rotWithShape="0" blurRad="4096766000000" dist="8193532000000" dir="9720000000000000">
              <a:srgbClr val="0B1F3A">
                <a:alpha val="13000000000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429000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502152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29000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D2D 비용 비교가 불투명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3429000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철도운임뿐 아니라 문전 트럭·상하차·대기비까지 합쳐야 도로와 비교할 수 있습니다.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044184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  <a:effectLst>
            <a:outerShdw sx="100000" sy="100000" kx="0" ky="0" algn="bl" rotWithShape="0" blurRad="52028928200000000" dist="104057856400000000" dir="583200000000000000000">
              <a:srgbClr val="0B1F3A">
                <a:alpha val="1300000000000000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199632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72784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99632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정보·대응이 흩어져 있음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6199632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가용 조건과 대체안이 여러 담당자·시스템에 나뉘어 “안 됩니다” 다음 답이 없습니다.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566928" y="395020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각자 단독으로는 비효율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66928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28" name="Text 26"/>
          <p:cNvSpPr/>
          <p:nvPr/>
        </p:nvSpPr>
        <p:spPr>
          <a:xfrm>
            <a:off x="1143000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353312" y="4315968"/>
            <a:ext cx="530352" cy="530352"/>
          </a:xfrm>
          <a:prstGeom prst="ellipse">
            <a:avLst/>
          </a:prstGeom>
          <a:solidFill>
            <a:srgbClr val="D9E8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353312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353312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32" name="Text 30"/>
          <p:cNvSpPr/>
          <p:nvPr/>
        </p:nvSpPr>
        <p:spPr>
          <a:xfrm>
            <a:off x="1929384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139696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139696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139696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36" name="Text 34"/>
          <p:cNvSpPr/>
          <p:nvPr/>
        </p:nvSpPr>
        <p:spPr>
          <a:xfrm>
            <a:off x="2715768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26080" y="4315968"/>
            <a:ext cx="530352" cy="530352"/>
          </a:xfrm>
          <a:prstGeom prst="ellipse">
            <a:avLst/>
          </a:prstGeom>
          <a:solidFill>
            <a:srgbClr val="D9E8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926080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926080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3502152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12464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712464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712464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44" name="Shape 42"/>
          <p:cNvSpPr/>
          <p:nvPr/>
        </p:nvSpPr>
        <p:spPr>
          <a:xfrm>
            <a:off x="4608576" y="4562856"/>
            <a:ext cx="685800" cy="0"/>
          </a:xfrm>
          <a:prstGeom prst="line">
            <a:avLst/>
          </a:prstGeom>
          <a:noFill/>
          <a:ln w="2540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5440680" y="4151376"/>
            <a:ext cx="3182112" cy="932688"/>
          </a:xfrm>
          <a:prstGeom prst="roundRect">
            <a:avLst>
              <a:gd name="adj" fmla="val 7843"/>
            </a:avLst>
          </a:prstGeom>
          <a:solidFill>
            <a:srgbClr val="E8F8F1"/>
          </a:solidFill>
          <a:ln w="17780">
            <a:solidFill>
              <a:srgbClr val="39D98A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650992" y="427939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18 TEU</a:t>
            </a:r>
            <a:endParaRPr lang="en-US" sz="2100" dirty="0"/>
          </a:p>
        </p:txBody>
      </p:sp>
      <p:sp>
        <p:nvSpPr>
          <p:cNvPr id="47" name="Text 45"/>
          <p:cNvSpPr/>
          <p:nvPr/>
        </p:nvSpPr>
        <p:spPr>
          <a:xfrm>
            <a:off x="6739128" y="43251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같은 회차 조합으로 목표 물량 달성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5650992" y="4663440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개별 컨테이너는 섞이지 않고 같은 열차를 이용합니다.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02920" y="5349240"/>
            <a:ext cx="8138160" cy="658368"/>
          </a:xfrm>
          <a:prstGeom prst="roundRect">
            <a:avLst>
              <a:gd name="adj" fmla="val 11111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713232" y="553212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 타깃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517904" y="5504688"/>
            <a:ext cx="6812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 전담 계약이 없는 중소·중견 화주 · 소량 반복 발송사 · 계절 변동형 화주 · 포워더</a:t>
            </a:r>
            <a:endParaRPr lang="en-US" sz="1020" dirty="0"/>
          </a:p>
        </p:txBody>
      </p:sp>
      <p:sp>
        <p:nvSpPr>
          <p:cNvPr id="52" name="Shape 50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해결책 · 코레일 플러스 물류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탐색·비교·공동수송·검토 요청을 하나로 잇는 화주 중심 통합 서비스입니다.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307592"/>
            <a:ext cx="5413248" cy="841248"/>
          </a:xfrm>
          <a:prstGeom prst="roundRect">
            <a:avLst>
              <a:gd name="adj" fmla="val 8696"/>
            </a:avLst>
          </a:prstGeom>
          <a:solidFill>
            <a:srgbClr val="1769FF"/>
          </a:solidFill>
          <a:ln w="1016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453896"/>
            <a:ext cx="4965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화주가 찾아오는 물류가 아니라,
코레일이 가능한 조건을 만들어 먼저 제안하는 통합 서비스</a:t>
            </a:r>
            <a:endParaRPr lang="en-US" sz="1520" dirty="0"/>
          </a:p>
          <a:p>
            <a:pPr indent="0" marL="0">
              <a:buNone/>
            </a:pPr>
            <a:endParaRPr lang="en-US" sz="1520" dirty="0"/>
          </a:p>
        </p:txBody>
      </p:sp>
      <p:sp>
        <p:nvSpPr>
          <p:cNvPr id="9" name="Shape 7"/>
          <p:cNvSpPr/>
          <p:nvPr/>
        </p:nvSpPr>
        <p:spPr>
          <a:xfrm>
            <a:off x="502920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9224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바로 검토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649224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 변경 없이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담당자 확인으로 연결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304288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450592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조건부 전환</a:t>
            </a:r>
            <a:endParaRPr lang="en-US" sz="1060" dirty="0"/>
          </a:p>
        </p:txBody>
      </p:sp>
      <p:sp>
        <p:nvSpPr>
          <p:cNvPr id="14" name="Text 12"/>
          <p:cNvSpPr/>
          <p:nvPr/>
        </p:nvSpPr>
        <p:spPr>
          <a:xfrm>
            <a:off x="2450592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축에서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최소 변경안 제시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4105656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251960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이번엔 유지</a:t>
            </a:r>
            <a:endParaRPr lang="en-US" sz="1060" dirty="0"/>
          </a:p>
        </p:txBody>
      </p:sp>
      <p:sp>
        <p:nvSpPr>
          <p:cNvPr id="17" name="Text 15"/>
          <p:cNvSpPr/>
          <p:nvPr/>
        </p:nvSpPr>
        <p:spPr>
          <a:xfrm>
            <a:off x="4251960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되는 조건과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재검토 시점 안내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502920" y="37673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흐름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502920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4360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 붙여넣기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2148840" y="4416552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2295144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2386584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386584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 자동 인식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3941064" y="4416552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087368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178808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78808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조정 축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02920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94360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판정·AI 역제안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2148840" y="5138928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2295144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386584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86584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익명 함께 보내기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3941064" y="5138928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087368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178808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178808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검토·사유 저장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502920" y="5568696"/>
            <a:ext cx="5413248" cy="438912"/>
          </a:xfrm>
          <a:prstGeom prst="roundRect">
            <a:avLst>
              <a:gd name="adj" fmla="val 1666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67512" y="566928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운영 경계  |  예약·계약·결제·배차를 자동 확정하지 않고 담당자 검토 요청까지 수행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6478524" y="1239012"/>
            <a:ext cx="2093976" cy="4414489"/>
          </a:xfrm>
          <a:prstGeom prst="roundRect">
            <a:avLst>
              <a:gd name="adj" fmla="val 3493"/>
            </a:avLst>
          </a:prstGeom>
          <a:solidFill>
            <a:srgbClr val="FFFFFF"/>
          </a:solidFill>
          <a:ln w="13970">
            <a:solidFill>
              <a:srgbClr val="BFD0E7"/>
            </a:solidFill>
            <a:prstDash val="solid"/>
          </a:ln>
          <a:effectLst>
            <a:outerShdw sx="100000" sy="100000" kx="0" ky="0" algn="bl" rotWithShape="0" blurRad="660767388140000000000" dist="1.32153477628e+21" dir="3.4992e+25">
              <a:srgbClr val="0B1F3A">
                <a:alpha val="1.3e+24"/>
              </a:srgbClr>
            </a:outerShdw>
          </a:effectLst>
        </p:spPr>
        <p:txBody>
          <a:bodyPr/>
          <a:p/>
        </p:txBody>
      </p:sp>
      <p:pic>
        <p:nvPicPr>
          <p:cNvPr id="44" name="Image 0" descr="/Users/tory/Desktop/기획/최종결과보고서_산출물/제품_캡처/01-korail-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1289304"/>
            <a:ext cx="1993392" cy="4313905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6318504" y="5715000"/>
            <a:ext cx="2414016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6391656" y="572414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대표 범위 · 충남 서북부→부산신항</a:t>
            </a:r>
            <a:endParaRPr lang="en-US" sz="840" dirty="0"/>
          </a:p>
        </p:txBody>
      </p:sp>
      <p:sp>
        <p:nvSpPr>
          <p:cNvPr id="47" name="Shape 44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48" name="Text 45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구성도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채널, 판단 엔진, 데이터·에이전트 네트워크를 분리해 신뢰성과 확장성을 확보했습니다.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481328"/>
            <a:ext cx="122529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4605">
            <a:solidFill>
              <a:srgbClr val="D7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2763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95681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메일·조건 입력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수락·거절 결정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1801368" y="2011680"/>
            <a:ext cx="146304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993392" y="1481328"/>
            <a:ext cx="1389888" cy="1078992"/>
          </a:xfrm>
          <a:prstGeom prst="roundRect">
            <a:avLst>
              <a:gd name="adj" fmla="val 6780"/>
            </a:avLst>
          </a:prstGeom>
          <a:solidFill>
            <a:srgbClr val="EAF2FF"/>
          </a:solidFill>
          <a:ln w="14605">
            <a:solidFill>
              <a:srgbClr val="1769FF"/>
            </a:solidFill>
            <a:prstDash val="solid"/>
          </a:ln>
          <a:effectLst>
            <a:outerShdw sx="100000" sy="100000" kx="0" ky="0" algn="bl" rotWithShape="0" blurRad="8.391745829378e+24" dist="1.6783491658756e+25" dir="2.09952e+30">
              <a:srgbClr val="0B1F3A">
                <a:alpha val="1.3e+29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03120" y="162763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코레일+ UI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1956816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React 19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Vite 7 · 모바일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3429000" y="2011680"/>
            <a:ext cx="219456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694176" y="1481328"/>
            <a:ext cx="159105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4605">
            <a:solidFill>
              <a:srgbClr val="1769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03904" y="162763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API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03904" y="195681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Node 22 · Express 5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검증·오케스트레이션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5330952" y="2011680"/>
            <a:ext cx="219456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596128" y="1481328"/>
            <a:ext cx="1389888" cy="1078992"/>
          </a:xfrm>
          <a:prstGeom prst="roundRect">
            <a:avLst>
              <a:gd name="adj" fmla="val 6780"/>
            </a:avLst>
          </a:prstGeom>
          <a:solidFill>
            <a:srgbClr val="E8F8F1"/>
          </a:solidFill>
          <a:ln w="14605">
            <a:solidFill>
              <a:srgbClr val="39D9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05856" y="162763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판단 엔진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05856" y="1956816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역제안 규칙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비용·시간·탄소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7031736" y="2011680"/>
            <a:ext cx="210312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287768" y="1481328"/>
            <a:ext cx="1353312" cy="1078992"/>
          </a:xfrm>
          <a:prstGeom prst="roundRect">
            <a:avLst>
              <a:gd name="adj" fmla="val 6780"/>
            </a:avLst>
          </a:prstGeom>
          <a:solidFill>
            <a:srgbClr val="EAF2FF"/>
          </a:solidFill>
          <a:ln w="14605">
            <a:solidFill>
              <a:srgbClr val="1769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97496" y="1627632"/>
            <a:ext cx="1133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추출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97496" y="1956816"/>
            <a:ext cx="11338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gpt-5.6-sol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Responses API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530352" y="2980944"/>
            <a:ext cx="232257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3163824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공공데이터 6종</a:t>
            </a:r>
            <a:endParaRPr lang="en-US" sz="1120" dirty="0"/>
          </a:p>
        </p:txBody>
      </p:sp>
      <p:sp>
        <p:nvSpPr>
          <p:cNvPr id="28" name="Text 26"/>
          <p:cNvSpPr/>
          <p:nvPr/>
        </p:nvSpPr>
        <p:spPr>
          <a:xfrm>
            <a:off x="713232" y="3493008"/>
            <a:ext cx="1956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철도거리 · 시간표 · 최저운임 · 운임률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상하역 시간 · 화물역 하역선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090672" y="2980944"/>
            <a:ext cx="1975104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3552" y="316382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PostgreSQL 16</a:t>
            </a:r>
            <a:endParaRPr lang="en-US" sz="1120" dirty="0"/>
          </a:p>
        </p:txBody>
      </p:sp>
      <p:sp>
        <p:nvSpPr>
          <p:cNvPr id="31" name="Text 29"/>
          <p:cNvSpPr/>
          <p:nvPr/>
        </p:nvSpPr>
        <p:spPr>
          <a:xfrm>
            <a:off x="3273552" y="3493008"/>
            <a:ext cx="1609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요청 · 제안 · 의사결정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거절 사유 · 풀 · 에이전트 이벤트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5303520" y="2980944"/>
            <a:ext cx="3337560" cy="1152144"/>
          </a:xfrm>
          <a:prstGeom prst="roundRect">
            <a:avLst>
              <a:gd name="adj" fmla="val 6349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04688" y="3154680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 네트워크</a:t>
            </a:r>
            <a:endParaRPr lang="en-US" sz="1120" dirty="0"/>
          </a:p>
        </p:txBody>
      </p:sp>
      <p:sp>
        <p:nvSpPr>
          <p:cNvPr id="34" name="Shape 32"/>
          <p:cNvSpPr/>
          <p:nvPr/>
        </p:nvSpPr>
        <p:spPr>
          <a:xfrm>
            <a:off x="7507224" y="3118104"/>
            <a:ext cx="932688" cy="274320"/>
          </a:xfrm>
          <a:prstGeom prst="roundRect">
            <a:avLst>
              <a:gd name="adj" fmla="val 26667"/>
            </a:avLst>
          </a:prstGeom>
          <a:solidFill>
            <a:srgbClr val="19436D"/>
          </a:solidFill>
          <a:ln w="12700">
            <a:solidFill>
              <a:srgbClr val="19436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0376" y="312724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 ONLINE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5504688" y="3511296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각기 다른 권역·품목·전략으로 요청 발행 → 풀 참여/이탈 → SSE 실시간 갱신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6272784" y="2944368"/>
            <a:ext cx="0" cy="-292608"/>
          </a:xfrm>
          <a:prstGeom prst="line">
            <a:avLst/>
          </a:prstGeom>
          <a:noFill/>
          <a:ln w="15240">
            <a:solidFill>
              <a:srgbClr val="39D98A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069080" y="2926080"/>
            <a:ext cx="0" cy="-265176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1664208" y="2926080"/>
            <a:ext cx="3493008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30352" y="4297680"/>
            <a:ext cx="704088" cy="228600"/>
          </a:xfrm>
          <a:prstGeom prst="roundRect">
            <a:avLst>
              <a:gd name="adj" fmla="val 32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3504" y="4306824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신뢰 상태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1362456" y="4288536"/>
            <a:ext cx="6126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확인 완료 · 예상값 · 확인 필요  |  결과마다 근거·기준일·검토주체를 함께 남김</a:t>
            </a:r>
            <a:endParaRPr lang="en-US" sz="810" dirty="0"/>
          </a:p>
        </p:txBody>
      </p:sp>
      <p:sp>
        <p:nvSpPr>
          <p:cNvPr id="43" name="Text 41"/>
          <p:cNvSpPr/>
          <p:nvPr/>
        </p:nvSpPr>
        <p:spPr>
          <a:xfrm>
            <a:off x="530352" y="45537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실행 상태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30352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6656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676656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</a:t>
            </a:r>
            <a:endParaRPr lang="en-US" sz="870" dirty="0"/>
          </a:p>
        </p:txBody>
      </p:sp>
      <p:sp>
        <p:nvSpPr>
          <p:cNvPr id="47" name="Shape 45"/>
          <p:cNvSpPr/>
          <p:nvPr/>
        </p:nvSpPr>
        <p:spPr>
          <a:xfrm>
            <a:off x="2139696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86000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 / 6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2286000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공공데이터 연결</a:t>
            </a:r>
            <a:endParaRPr lang="en-US" sz="870" dirty="0"/>
          </a:p>
        </p:txBody>
      </p:sp>
      <p:sp>
        <p:nvSpPr>
          <p:cNvPr id="50" name="Shape 48"/>
          <p:cNvSpPr/>
          <p:nvPr/>
        </p:nvSpPr>
        <p:spPr>
          <a:xfrm>
            <a:off x="3749040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895344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HEALTHY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3895344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PostgreSQL</a:t>
            </a:r>
            <a:endParaRPr lang="en-US" sz="870" dirty="0"/>
          </a:p>
        </p:txBody>
      </p:sp>
      <p:sp>
        <p:nvSpPr>
          <p:cNvPr id="53" name="Shape 51"/>
          <p:cNvSpPr/>
          <p:nvPr/>
        </p:nvSpPr>
        <p:spPr>
          <a:xfrm>
            <a:off x="5358384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04688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ENABLED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5504688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추출</a:t>
            </a:r>
            <a:endParaRPr lang="en-US" sz="870" dirty="0"/>
          </a:p>
        </p:txBody>
      </p:sp>
      <p:sp>
        <p:nvSpPr>
          <p:cNvPr id="56" name="Shape 54"/>
          <p:cNvSpPr/>
          <p:nvPr/>
        </p:nvSpPr>
        <p:spPr>
          <a:xfrm>
            <a:off x="6967728" y="4882896"/>
            <a:ext cx="1673352" cy="804672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14032" y="4974336"/>
            <a:ext cx="1380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HTTP 200</a:t>
            </a:r>
            <a:endParaRPr lang="en-US" sz="1900" dirty="0"/>
          </a:p>
        </p:txBody>
      </p:sp>
      <p:sp>
        <p:nvSpPr>
          <p:cNvPr id="58" name="Text 56"/>
          <p:cNvSpPr/>
          <p:nvPr/>
        </p:nvSpPr>
        <p:spPr>
          <a:xfrm>
            <a:off x="7114032" y="5330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로컬·공개 경로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시점: 2026.08.13 · 현재 로컬 런타임 및 공개 HTTPS 경로 기준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화면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최소 입력 → 검토 범위 선택 → 근거가 보이는 역제안까지 한 손 흐름으로 설계했습니다.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4652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0657517203310059e+29" dist="2.1315034406620118e+29" dir="1.259712e+35">
              <a:srgbClr val="0B1F3A">
                <a:alpha val="1.3e+34"/>
              </a:srgbClr>
            </a:outerShdw>
          </a:effectLst>
        </p:spPr>
      </p:sp>
      <p:pic>
        <p:nvPicPr>
          <p:cNvPr id="8" name="Image 0" descr="/Users/tory/Desktop/기획/최종결과보고서_산출물/제품_캡처/01-korail-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353312"/>
            <a:ext cx="1600200" cy="346299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9768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886968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코레일+ 진입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429768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새 앱 설치 없이 이동·편의에서 시작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2386584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811780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3535046848203775e+33" dist="2.707009369640755e+33" dir="7.558272e+39">
              <a:srgbClr val="0B1F3A">
                <a:alpha val="1.3e+39"/>
              </a:srgbClr>
            </a:outerShdw>
          </a:effectLst>
        </p:spPr>
      </p:sp>
      <p:pic>
        <p:nvPicPr>
          <p:cNvPr id="15" name="Image 1" descr="/Users/tory/Desktop/기획/최종결과보고서_산출물/제품_캡처/06-email-extra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353312"/>
            <a:ext cx="1600200" cy="3462997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2596896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670048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840" dirty="0"/>
          </a:p>
        </p:txBody>
      </p:sp>
      <p:sp>
        <p:nvSpPr>
          <p:cNvPr id="18" name="Text 14"/>
          <p:cNvSpPr/>
          <p:nvPr/>
        </p:nvSpPr>
        <p:spPr>
          <a:xfrm>
            <a:off x="3054096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 자동 인식</a:t>
            </a:r>
            <a:endParaRPr lang="en-US" sz="1020" dirty="0"/>
          </a:p>
        </p:txBody>
      </p:sp>
      <p:sp>
        <p:nvSpPr>
          <p:cNvPr id="19" name="Text 15"/>
          <p:cNvSpPr/>
          <p:nvPr/>
        </p:nvSpPr>
        <p:spPr>
          <a:xfrm>
            <a:off x="2596896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근거와 누락값을 함께 확인</a:t>
            </a:r>
            <a:endParaRPr lang="en-US" sz="820" dirty="0"/>
          </a:p>
        </p:txBody>
      </p:sp>
      <p:sp>
        <p:nvSpPr>
          <p:cNvPr id="20" name="Shape 16"/>
          <p:cNvSpPr/>
          <p:nvPr/>
        </p:nvSpPr>
        <p:spPr>
          <a:xfrm>
            <a:off x="4553712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4978908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7189509497218795e+37" dist="3.437901899443759e+37" dir="4.5349632000000006e+44">
              <a:srgbClr val="0B1F3A">
                <a:alpha val="1.3e+44"/>
              </a:srgbClr>
            </a:outerShdw>
          </a:effectLst>
        </p:spPr>
      </p:sp>
      <p:pic>
        <p:nvPicPr>
          <p:cNvPr id="22" name="Image 2" descr="/Users/tory/Desktop/기획/최종결과보고서_산출물/제품_캡처/07-adjustment-ax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53312"/>
            <a:ext cx="1600200" cy="3462997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764024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837176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840" dirty="0"/>
          </a:p>
        </p:txBody>
      </p:sp>
      <p:sp>
        <p:nvSpPr>
          <p:cNvPr id="25" name="Text 20"/>
          <p:cNvSpPr/>
          <p:nvPr/>
        </p:nvSpPr>
        <p:spPr>
          <a:xfrm>
            <a:off x="5221224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조정 축</a:t>
            </a:r>
            <a:endParaRPr lang="en-US" sz="1020" dirty="0"/>
          </a:p>
        </p:txBody>
      </p:sp>
      <p:sp>
        <p:nvSpPr>
          <p:cNvPr id="26" name="Text 21"/>
          <p:cNvSpPr/>
          <p:nvPr/>
        </p:nvSpPr>
        <p:spPr>
          <a:xfrm>
            <a:off x="4764024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출발일·마감·역·분할 범위를 선택</a:t>
            </a:r>
            <a:endParaRPr lang="en-US" sz="820" dirty="0"/>
          </a:p>
        </p:txBody>
      </p:sp>
      <p:sp>
        <p:nvSpPr>
          <p:cNvPr id="27" name="Shape 22"/>
          <p:cNvSpPr/>
          <p:nvPr/>
        </p:nvSpPr>
        <p:spPr>
          <a:xfrm>
            <a:off x="6720840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7146036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1769FF"/>
            </a:solidFill>
            <a:prstDash val="solid"/>
          </a:ln>
          <a:effectLst>
            <a:outerShdw sx="100000" sy="100000" kx="0" ky="0" algn="bl" rotWithShape="0" blurRad="2.183067706146787e+41" dist="4.366135412293574e+41" dir="2.72097792e+49">
              <a:srgbClr val="0B1F3A">
                <a:alpha val="1.3e+49"/>
              </a:srgbClr>
            </a:outerShdw>
          </a:effectLst>
        </p:spPr>
      </p:sp>
      <p:pic>
        <p:nvPicPr>
          <p:cNvPr id="29" name="Image 3" descr="/Users/tory/Desktop/기획/최종결과보고서_산출물/제품_캡처/03-ai-counterpropos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1353312"/>
            <a:ext cx="1600200" cy="3462997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931152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004304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840" dirty="0"/>
          </a:p>
        </p:txBody>
      </p:sp>
      <p:sp>
        <p:nvSpPr>
          <p:cNvPr id="32" name="Text 26"/>
          <p:cNvSpPr/>
          <p:nvPr/>
        </p:nvSpPr>
        <p:spPr>
          <a:xfrm>
            <a:off x="7388352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역제안</a:t>
            </a:r>
            <a:endParaRPr lang="en-US" sz="1020" dirty="0"/>
          </a:p>
        </p:txBody>
      </p:sp>
      <p:sp>
        <p:nvSpPr>
          <p:cNvPr id="33" name="Text 27"/>
          <p:cNvSpPr/>
          <p:nvPr/>
        </p:nvSpPr>
        <p:spPr>
          <a:xfrm>
            <a:off x="6931152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절감과 불편을 같은 크기로 표시</a:t>
            </a:r>
            <a:endParaRPr lang="en-US" sz="820" dirty="0"/>
          </a:p>
        </p:txBody>
      </p:sp>
      <p:sp>
        <p:nvSpPr>
          <p:cNvPr id="34" name="Shape 28"/>
          <p:cNvSpPr/>
          <p:nvPr/>
        </p:nvSpPr>
        <p:spPr>
          <a:xfrm>
            <a:off x="502920" y="5815584"/>
            <a:ext cx="8138160" cy="384048"/>
          </a:xfrm>
          <a:prstGeom prst="roundRect">
            <a:avLst>
              <a:gd name="adj" fmla="val 19048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94944" y="5907024"/>
            <a:ext cx="7754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UX 원칙  |  한 화면에 한 결정 · 하단 고정 CTA · 입력은 선택형 우선 · 계산 근거는 필요할 때 펼쳐보기</a:t>
            </a:r>
            <a:endParaRPr lang="en-US" sz="920" dirty="0"/>
          </a:p>
        </p:txBody>
      </p:sp>
      <p:sp>
        <p:nvSpPr>
          <p:cNvPr id="36" name="Shape 30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8" name="Text 32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화면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비교·모집·검토 요청까지 사용자가 직접 결정하며, 시스템은 상태 변화만 실시간으로 알려줍니다.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4964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2.7724959868064195e+45" dist="5.544991973612839e+45" dir="1.6325867520000003e+54">
              <a:srgbClr val="0B1F3A">
                <a:alpha val="1.2999999999999999e+54"/>
              </a:srgbClr>
            </a:outerShdw>
          </a:effectLst>
        </p:spPr>
      </p:sp>
      <p:pic>
        <p:nvPicPr>
          <p:cNvPr id="8" name="Image 0" descr="/Users/tory/Desktop/기획/최종결과보고서_산출물/제품_캡처/08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298448"/>
            <a:ext cx="1956816" cy="42347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76072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33272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같은 기준으로 비교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76072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도로 D2D와 철도 D2D를 비용·시간·탄소로 나란히 비교</a:t>
            </a:r>
            <a:endParaRPr lang="en-US" sz="810" dirty="0"/>
          </a:p>
        </p:txBody>
      </p:sp>
      <p:sp>
        <p:nvSpPr>
          <p:cNvPr id="13" name="Shape 10"/>
          <p:cNvSpPr/>
          <p:nvPr/>
        </p:nvSpPr>
        <p:spPr>
          <a:xfrm>
            <a:off x="3191256" y="3337560"/>
            <a:ext cx="164592" cy="0"/>
          </a:xfrm>
          <a:prstGeom prst="line">
            <a:avLst/>
          </a:prstGeom>
          <a:noFill/>
          <a:ln w="19050">
            <a:solidFill>
              <a:srgbClr val="39D98A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3653028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39D98A"/>
            </a:solidFill>
            <a:prstDash val="solid"/>
          </a:ln>
          <a:effectLst>
            <a:outerShdw sx="100000" sy="100000" kx="0" ky="0" algn="bl" rotWithShape="0" blurRad="3.5210699032441527e+49" dist="7.042139806488305e+49" dir="9.795520512000002e+58">
              <a:srgbClr val="0B1F3A">
                <a:alpha val="1.2999999999999998e+59"/>
              </a:srgbClr>
            </a:outerShdw>
          </a:effectLst>
        </p:spPr>
      </p:sp>
      <p:pic>
        <p:nvPicPr>
          <p:cNvPr id="15" name="Image 1" descr="/Users/tory/Desktop/기획/최종결과보고서_산출물/제품_캡처/04-pool-target-reach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298448"/>
            <a:ext cx="1956816" cy="4234751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374136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0A7C50"/>
          </a:solidFill>
          <a:ln w="12700">
            <a:solidFill>
              <a:srgbClr val="0A7C5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47288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3831336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함께 보내기 달성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374136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15→18TEU가 되면 양쪽 1TEU당 단가가 함께 하락</a:t>
            </a:r>
            <a:endParaRPr lang="en-US" sz="810" dirty="0"/>
          </a:p>
        </p:txBody>
      </p:sp>
      <p:sp>
        <p:nvSpPr>
          <p:cNvPr id="20" name="Shape 16"/>
          <p:cNvSpPr/>
          <p:nvPr/>
        </p:nvSpPr>
        <p:spPr>
          <a:xfrm>
            <a:off x="5989320" y="3337560"/>
            <a:ext cx="164592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51092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4.471758777120074e+53" dist="8.943517554240149e+53" dir="5.877312307200001e+63">
              <a:srgbClr val="0B1F3A">
                <a:alpha val="1.2999999999999998e+64"/>
              </a:srgbClr>
            </a:outerShdw>
          </a:effectLst>
        </p:spPr>
      </p:sp>
      <p:pic>
        <p:nvPicPr>
          <p:cNvPr id="22" name="Image 2" descr="/Users/tory/Desktop/기획/최종결과보고서_산출물/제품_캡처/05-review-submit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298448"/>
            <a:ext cx="1956816" cy="4234751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172200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245352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6629400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검토 요청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6172200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예약이 아니라 담당자의 운임·적재 가능 여부 확인으로 마무리</a:t>
            </a:r>
            <a:endParaRPr lang="en-US" sz="810" dirty="0"/>
          </a:p>
        </p:txBody>
      </p:sp>
      <p:sp>
        <p:nvSpPr>
          <p:cNvPr id="27" name="Shape 22"/>
          <p:cNvSpPr/>
          <p:nvPr/>
        </p:nvSpPr>
        <p:spPr>
          <a:xfrm>
            <a:off x="7525512" y="1179576"/>
            <a:ext cx="960120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598664" y="118872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SSE LIVE</a:t>
            </a:r>
            <a:endParaRPr lang="en-US" sz="830" dirty="0"/>
          </a:p>
        </p:txBody>
      </p:sp>
      <p:sp>
        <p:nvSpPr>
          <p:cNvPr id="29" name="Text 24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화면 속 회사·물량·비용은 해커톤 시연용 가상 데이터이며, 실제 운임과 적재 가능 여부는 확정하지 않습니다.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2" name="Text 27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주요 기능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입력 → 판정 → 최소 변경 → 사람 승인 → 사유 학습으로 전환의 전 과정을 연결합니다.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98448"/>
            <a:ext cx="8138160" cy="438912"/>
          </a:xfrm>
          <a:prstGeom prst="roundRect">
            <a:avLst>
              <a:gd name="adj" fmla="val 16667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" y="1408176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기능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596896" y="1408176"/>
            <a:ext cx="3630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구현 방식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620256" y="1408176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가치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" y="190195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  증거 기반 자동 인식</a:t>
            </a:r>
            <a:endParaRPr lang="en-US" sz="940" dirty="0"/>
          </a:p>
        </p:txBody>
      </p:sp>
      <p:sp>
        <p:nvSpPr>
          <p:cNvPr id="13" name="Text 11"/>
          <p:cNvSpPr/>
          <p:nvPr/>
        </p:nvSpPr>
        <p:spPr>
          <a:xfrm>
            <a:off x="2596896" y="1883664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메일에서 6개 필수값을 추출하고 원문 근거·누락·확인 필요 상태를 함께 표시</a:t>
            </a:r>
            <a:endParaRPr lang="en-US" sz="810" dirty="0"/>
          </a:p>
        </p:txBody>
      </p:sp>
      <p:sp>
        <p:nvSpPr>
          <p:cNvPr id="14" name="Text 12"/>
          <p:cNvSpPr/>
          <p:nvPr/>
        </p:nvSpPr>
        <p:spPr>
          <a:xfrm>
            <a:off x="6620256" y="1883664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재입력은 줄이고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오인식은 바로 고침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502920" y="262432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" y="2734056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  3단계 판정·최소변경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2596896" y="2715768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바로 검토/조건부 전환/이번엔 유지로 분기하고, 7개 축에서 변경이 적은 안 2개와 재검토 시점을 제시</a:t>
            </a:r>
            <a:endParaRPr lang="en-US" sz="810" dirty="0"/>
          </a:p>
        </p:txBody>
      </p:sp>
      <p:sp>
        <p:nvSpPr>
          <p:cNvPr id="18" name="Text 16"/>
          <p:cNvSpPr/>
          <p:nvPr/>
        </p:nvSpPr>
        <p:spPr>
          <a:xfrm>
            <a:off x="6620256" y="2715768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“안 됨” 대신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바꿀 조건을 앎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502920" y="3456432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" y="356616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  익명 풀·실시간 네트워크</a:t>
            </a:r>
            <a:endParaRPr lang="en-US" sz="940" dirty="0"/>
          </a:p>
        </p:txBody>
      </p:sp>
      <p:sp>
        <p:nvSpPr>
          <p:cNvPr id="21" name="Text 19"/>
          <p:cNvSpPr/>
          <p:nvPr/>
        </p:nvSpPr>
        <p:spPr>
          <a:xfrm>
            <a:off x="2596896" y="3547872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10개 화주 에이전트가 요청·참여·이탈을 수행하고 SSE로 15↔18TEU 상태를 갱신</a:t>
            </a:r>
            <a:endParaRPr lang="en-US" sz="810" dirty="0"/>
          </a:p>
        </p:txBody>
      </p:sp>
      <p:sp>
        <p:nvSpPr>
          <p:cNvPr id="22" name="Text 20"/>
          <p:cNvSpPr/>
          <p:nvPr/>
        </p:nvSpPr>
        <p:spPr>
          <a:xfrm>
            <a:off x="6620256" y="3547872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화물이 모이는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과정을 직접 확인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502920" y="4288536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" y="4398264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  사람 승인·안전 경계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2596896" y="4379976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운임·수송력·시설·안전은 확인 필요로 남기고 위험물은 중단, 예약·계약·배차·결제는 자동 확정 금지</a:t>
            </a:r>
            <a:endParaRPr lang="en-US" sz="810" dirty="0"/>
          </a:p>
        </p:txBody>
      </p:sp>
      <p:sp>
        <p:nvSpPr>
          <p:cNvPr id="26" name="Text 24"/>
          <p:cNvSpPr/>
          <p:nvPr/>
        </p:nvSpPr>
        <p:spPr>
          <a:xfrm>
            <a:off x="6620256" y="4379976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과장 없는 비교와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최종 통제권 유지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502920" y="5120640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230368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  거절·이탈 사유 학습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2596896" y="5212080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거절 이유와 풀 참여·이탈 이벤트를 구조화해 동일 제안 반복을 막고 다음 제안·운영 개선의 입력으로 저장</a:t>
            </a:r>
            <a:endParaRPr lang="en-US" sz="810" dirty="0"/>
          </a:p>
        </p:txBody>
      </p:sp>
      <p:sp>
        <p:nvSpPr>
          <p:cNvPr id="30" name="Text 28"/>
          <p:cNvSpPr/>
          <p:nvPr/>
        </p:nvSpPr>
        <p:spPr>
          <a:xfrm>
            <a:off x="6620256" y="5212080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실패를 버리지 않고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다음 전환에 활용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502920" y="6053328"/>
            <a:ext cx="8138160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6089904"/>
            <a:ext cx="7827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 원칙: 추천 건수보다 실제 전환을 보고, 실패 사유까지 다음 제안의 데이터로 남깁니다.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모델 및 프롬프트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생성형 AI 하나에 운송 결정을 맡기지 않고, 규칙·데이터·상태 엔진과 사람 승인을 결합합니다.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35024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344168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LLM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33856" y="1307592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gpt-5.6-sol · Responses 호환 API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33856" y="160020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한국어 메일 → 허용된 필드만 JSON 추출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3913632" cy="2240280"/>
          </a:xfrm>
          <a:prstGeom prst="roundRect">
            <a:avLst>
              <a:gd name="adj" fmla="val 3265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15798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8BB9FF"/>
                </a:solidFill>
                <a:latin typeface="Nanum Gothic"/>
              </a:rPr>
              <a:t>실제 SYSTEM PROMPT · 원문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13232" y="2523744"/>
            <a:ext cx="3456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rgbClr val="FFFFFF"/>
                </a:solidFill>
                <a:latin typeface="Nanum Gothic"/>
              </a:rPr>
              <a:t>“화물 운송 메일에서 원문에 있는 값만 JSON으로 추출하세요.</a:t>
            </a:r>
            <a:endParaRPr lang="en-US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Nanum Gothic"/>
              </a:rPr>
              <a:t>없는 값은 null로 두세요.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Nanum Gothic"/>
              </a:rPr>
              <a:t>키: origin, destination, containerSize, containerCount,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Nanum Gothic"/>
              </a:rPr>
              <a:t>departureDate, deadline, hazardous, roadCost,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Nanum Gothic"/>
              </a:rPr>
              <a:t>cargo, weightTons.”</a:t>
            </a:r>
          </a:p>
        </p:txBody>
      </p:sp>
      <p:sp>
        <p:nvSpPr>
          <p:cNvPr id="14" name="Text 12"/>
          <p:cNvSpPr/>
          <p:nvPr/>
        </p:nvSpPr>
        <p:spPr>
          <a:xfrm>
            <a:off x="713232" y="3355848"/>
            <a:ext cx="3401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40" b="0">
                <a:solidFill>
                  <a:srgbClr val="C7D5E7"/>
                </a:solidFill>
                <a:latin typeface="Nanum Gothic"/>
              </a:rPr>
              <a:t>후처리 규칙  |  허용 키 외 제거 · 20/40ft · 숫자 범위 정규화</a:t>
            </a:r>
            <a:endParaRPr lang="en-US" sz="81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C7D5E7"/>
                </a:solidFill>
                <a:latin typeface="Nanum Gothic"/>
              </a:rPr>
              <a:t>위험물 yes/no 표준화 · JSON 실패·12초 초과 시 규칙 기반 추출</a:t>
            </a:r>
          </a:p>
        </p:txBody>
      </p:sp>
      <p:sp>
        <p:nvSpPr>
          <p:cNvPr id="15" name="Text 13"/>
          <p:cNvSpPr/>
          <p:nvPr/>
        </p:nvSpPr>
        <p:spPr>
          <a:xfrm>
            <a:off x="4754880" y="1307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분업 파이프라인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36592" y="1755648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AF2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82896" y="1883664"/>
            <a:ext cx="347472" cy="347472"/>
          </a:xfrm>
          <a:prstGeom prst="ellipse">
            <a:avLst/>
          </a:prstGeom>
          <a:solidFill>
            <a:srgbClr val="0F5AC7"/>
          </a:solidFill>
          <a:ln w="12700">
            <a:solidFill>
              <a:srgbClr val="0F5A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2896" y="1888236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58384" y="1847088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LLM 추출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8470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값만 구조화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702552" y="2368296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736592" y="2514600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82896" y="2642616"/>
            <a:ext cx="347472" cy="347472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82896" y="2647188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58384" y="2606040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스키마 정규화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29400" y="2606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화이트리스트·범위 검증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6702552" y="3127248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736592" y="3273552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8F8F1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82896" y="3401568"/>
            <a:ext cx="347472" cy="347472"/>
          </a:xfrm>
          <a:prstGeom prst="ellipse">
            <a:avLst/>
          </a:prstGeom>
          <a:solidFill>
            <a:srgbClr val="0A7C50"/>
          </a:solidFill>
          <a:ln w="12700">
            <a:solidFill>
              <a:srgbClr val="0A7C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340614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58384" y="3364992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규칙·데이터 엔진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29400" y="336499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3단계 판정·D2D·안전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6702552" y="3886200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736592" y="4032504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FFF3DC"/>
          </a:solidFill>
          <a:ln w="13970">
            <a:solidFill>
              <a:srgbClr val="F59E0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82896" y="4160520"/>
            <a:ext cx="347472" cy="347472"/>
          </a:xfrm>
          <a:prstGeom prst="ellipse">
            <a:avLst/>
          </a:prstGeom>
          <a:solidFill>
            <a:srgbClr val="9B6200"/>
          </a:solidFill>
          <a:ln w="12700">
            <a:solidFill>
              <a:srgbClr val="9B62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416509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358384" y="4123944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29400" y="41239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풀 참여·이탈·이벤트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6702552" y="4645152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736592" y="4791456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AF2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82896" y="4919472"/>
            <a:ext cx="347472" cy="347472"/>
          </a:xfrm>
          <a:prstGeom prst="ellipse">
            <a:avLst/>
          </a:prstGeom>
          <a:solidFill>
            <a:srgbClr val="0F5AC7"/>
          </a:solidFill>
          <a:ln w="12700">
            <a:solidFill>
              <a:srgbClr val="0F5AC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82896" y="4924044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58384" y="4882896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설명 UI·사람 승인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29400" y="488289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배지·근거·최종확정</a:t>
            </a:r>
            <a:endParaRPr lang="en-US" sz="830" dirty="0"/>
          </a:p>
        </p:txBody>
      </p:sp>
      <p:sp>
        <p:nvSpPr>
          <p:cNvPr id="45" name="Text 43"/>
          <p:cNvSpPr/>
          <p:nvPr/>
        </p:nvSpPr>
        <p:spPr>
          <a:xfrm>
            <a:off x="502920" y="4535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가드레일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02920" y="4828032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FDEBEC"/>
          </a:solidFill>
          <a:ln w="12700">
            <a:solidFill>
              <a:srgbClr val="FDEB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" y="4837176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밖 값 금지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2542032" y="4828032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15184" y="4837176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누락값 null</a:t>
            </a:r>
            <a:endParaRPr lang="en-US" sz="820" dirty="0"/>
          </a:p>
        </p:txBody>
      </p:sp>
      <p:sp>
        <p:nvSpPr>
          <p:cNvPr id="50" name="Shape 48"/>
          <p:cNvSpPr/>
          <p:nvPr/>
        </p:nvSpPr>
        <p:spPr>
          <a:xfrm>
            <a:off x="502920" y="5111496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6072" y="512064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화이트리스트 정규화</a:t>
            </a:r>
            <a:endParaRPr lang="en-US" sz="820" dirty="0"/>
          </a:p>
        </p:txBody>
      </p:sp>
      <p:sp>
        <p:nvSpPr>
          <p:cNvPr id="52" name="Shape 50"/>
          <p:cNvSpPr/>
          <p:nvPr/>
        </p:nvSpPr>
        <p:spPr>
          <a:xfrm>
            <a:off x="2542032" y="5111496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615184" y="512064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12초 타임아웃·규칙 폴백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502920" y="5422392"/>
            <a:ext cx="8138160" cy="612648"/>
          </a:xfrm>
          <a:prstGeom prst="roundRect">
            <a:avLst>
              <a:gd name="adj" fmla="val 11940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3232" y="5559552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AI가 하지 않는 것</a:t>
            </a:r>
            <a:endParaRPr lang="en-US" sz="920" dirty="0"/>
          </a:p>
        </p:txBody>
      </p:sp>
      <p:sp>
        <p:nvSpPr>
          <p:cNvPr id="56" name="Text 54"/>
          <p:cNvSpPr/>
          <p:nvPr/>
        </p:nvSpPr>
        <p:spPr>
          <a:xfrm>
            <a:off x="1956816" y="5532120"/>
            <a:ext cx="6419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운임·적재 가능 여부·위험물 취급·계약·배차·결제를 임의로 확정하지 않습니다.</a:t>
            </a:r>
            <a:endParaRPr lang="en-US" sz="960" dirty="0"/>
          </a:p>
        </p:txBody>
      </p:sp>
      <p:sp>
        <p:nvSpPr>
          <p:cNvPr id="57" name="Shape 55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구현 결과 및 검증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코드·Docker 런타임·공개 HTTPS·실제 390px/320px 화면을 다시 확인한 결과입니다.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프로덕션 빌드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1956816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03120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 / 5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103120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백엔드 테스트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3410712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57016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 / 3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557016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End-to-End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4864608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10912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010912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에이전트 온라인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502920" y="2331720"/>
            <a:ext cx="5687568" cy="3529584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251460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항목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2221992" y="25146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확인 결과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5376672" y="251460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상태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713232" y="2816352"/>
            <a:ext cx="5230368" cy="0"/>
          </a:xfrm>
          <a:prstGeom prst="line">
            <a:avLst/>
          </a:prstGeom>
          <a:noFill/>
          <a:ln w="10160">
            <a:solidFill>
              <a:srgbClr val="D7DF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29443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Build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2221992" y="29443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Vite 57 modules · JS 272.31kB (gzip 82.87kB)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5385816" y="29260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58968" y="29352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640080" y="33741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4015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API · DB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2221992" y="34015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/health ok · PostgreSQL healthy · AI enabled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5385816" y="33832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58968" y="33924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33" name="Text 31"/>
          <p:cNvSpPr/>
          <p:nvPr/>
        </p:nvSpPr>
        <p:spPr>
          <a:xfrm>
            <a:off x="731520" y="38587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Public Data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2221992" y="38587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KORAIL·ODCloud 데이터셋 6/6 HTTP 200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5385816" y="38404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58968" y="38496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37" name="Shape 35"/>
          <p:cNvSpPr/>
          <p:nvPr/>
        </p:nvSpPr>
        <p:spPr>
          <a:xfrm>
            <a:off x="640080" y="42885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43159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Runtime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2221992" y="43159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Web + API + DB + Agent 10 = 13개 컨테이너 healthy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5385816" y="42976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58968" y="43068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42" name="Text 40"/>
          <p:cNvSpPr/>
          <p:nvPr/>
        </p:nvSpPr>
        <p:spPr>
          <a:xfrm>
            <a:off x="731520" y="47731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Mobile UX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2221992" y="47731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320px overflow 0 · 24px 미만 조작부 0 · 8px 미만 텍스트 0</a:t>
            </a:r>
            <a:endParaRPr lang="en-US" sz="820" dirty="0"/>
          </a:p>
        </p:txBody>
      </p:sp>
      <p:sp>
        <p:nvSpPr>
          <p:cNvPr id="44" name="Shape 42"/>
          <p:cNvSpPr/>
          <p:nvPr/>
        </p:nvSpPr>
        <p:spPr>
          <a:xfrm>
            <a:off x="5385816" y="47548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58968" y="47640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46" name="Shape 44"/>
          <p:cNvSpPr/>
          <p:nvPr/>
        </p:nvSpPr>
        <p:spPr>
          <a:xfrm>
            <a:off x="640080" y="52029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52303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Public Path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2221992" y="52303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로컬 200 · 공개 HTTPS 200 · SSE 실시간 연결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385816" y="52120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58968" y="52212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51" name="Shape 49"/>
          <p:cNvSpPr/>
          <p:nvPr/>
        </p:nvSpPr>
        <p:spPr>
          <a:xfrm>
            <a:off x="502920" y="6007608"/>
            <a:ext cx="5687568" cy="301752"/>
          </a:xfrm>
          <a:prstGeom prst="roundRect">
            <a:avLst>
              <a:gd name="adj" fmla="val 24242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512" y="6053328"/>
            <a:ext cx="5367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범위: 기능·접근성·연결성. 실제 운임 정확도와 현장 전환율은 파일럿 실증 대상입니다.</a:t>
            </a:r>
            <a:endParaRPr lang="en-US" sz="790" dirty="0"/>
          </a:p>
        </p:txBody>
      </p:sp>
      <p:sp>
        <p:nvSpPr>
          <p:cNvPr id="53" name="Shape 51"/>
          <p:cNvSpPr/>
          <p:nvPr/>
        </p:nvSpPr>
        <p:spPr>
          <a:xfrm>
            <a:off x="6688836" y="1165860"/>
            <a:ext cx="1984248" cy="4177026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3970">
            <a:solidFill>
              <a:srgbClr val="1769FF"/>
            </a:solidFill>
            <a:prstDash val="solid"/>
          </a:ln>
          <a:effectLst>
            <a:outerShdw sx="100000" sy="100000" kx="0" ky="0" algn="bl" rotWithShape="0" blurRad="5.679133646942494e+57" dist="1.1358267293884988e+58" dir="3.526387384320001e+68">
              <a:srgbClr val="0B1F3A">
                <a:alpha val="1.2999999999999999e+69"/>
              </a:srgbClr>
            </a:outerShdw>
          </a:effectLst>
        </p:spPr>
      </p:sp>
      <p:pic>
        <p:nvPicPr>
          <p:cNvPr id="54" name="Image 0" descr="/Users/tory/Desktop/기획/최종결과보고서_산출물/제품_캡처/11-live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9128" y="1216152"/>
            <a:ext cx="1883664" cy="4076442"/>
          </a:xfrm>
          <a:prstGeom prst="rect">
            <a:avLst/>
          </a:prstGeom>
        </p:spPr>
      </p:pic>
      <p:sp>
        <p:nvSpPr>
          <p:cNvPr id="55" name="Shape 52"/>
          <p:cNvSpPr/>
          <p:nvPr/>
        </p:nvSpPr>
        <p:spPr>
          <a:xfrm>
            <a:off x="6784848" y="5422392"/>
            <a:ext cx="1792224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858000" y="54315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NETWORK · 10/10</a:t>
            </a:r>
            <a:endParaRPr lang="en-US" sz="840" dirty="0"/>
          </a:p>
        </p:txBody>
      </p:sp>
      <p:sp>
        <p:nvSpPr>
          <p:cNvPr id="57" name="Text 54"/>
          <p:cNvSpPr/>
          <p:nvPr/>
        </p:nvSpPr>
        <p:spPr>
          <a:xfrm>
            <a:off x="6729984" y="5779008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화면에서 네트워크 상태와</a:t>
            </a:r>
            <a:endParaRPr lang="en-US" sz="840" dirty="0"/>
          </a:p>
          <a:p>
            <a:pPr algn="ctr"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참여·이탈 이벤트를 확인</a:t>
            </a:r>
            <a:endParaRPr lang="en-US" sz="840" dirty="0"/>
          </a:p>
        </p:txBody>
      </p:sp>
      <p:sp>
        <p:nvSpPr>
          <p:cNvPr id="58" name="Text 55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테스트 실행 및 런타임 확인: 2026.08.13 KST</a:t>
            </a:r>
            <a:endParaRPr lang="en-US" sz="720" dirty="0"/>
          </a:p>
        </p:txBody>
      </p:sp>
      <p:sp>
        <p:nvSpPr>
          <p:cNvPr id="59" name="Shape 56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기대효과·성과지표 및 개선점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시연 예상값, 90일 PoC 목표, 현재 한계를 분리해 “추천 수”가 아닌 실제 전환을 측정합니다.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98448"/>
            <a:ext cx="1243584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307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DEMO ESTIMATE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874520" y="1307592"/>
            <a:ext cx="5157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아산 → 부산신항 · 20ft 4개 · 도로 견적 312만원 기준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502920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전체 비용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312 → 256만원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−18%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42032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탄소 배출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2679192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1.94 → 0.74tCO₂e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2679192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−62%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4581144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8304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총 소요시간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4718304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31 → 35시간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4718304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+4h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620256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57416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함께 보내기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6757416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15 → 18TEU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6757416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목표 달성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02920" y="299923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30998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NORTH STAR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746504" y="3081528"/>
            <a:ext cx="25420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기여 순증 철도화물 톤수</a:t>
            </a:r>
            <a:endParaRPr lang="en-US" sz="1070" dirty="0"/>
          </a:p>
        </p:txBody>
      </p:sp>
      <p:sp>
        <p:nvSpPr>
          <p:cNvPr id="29" name="Text 27"/>
          <p:cNvSpPr/>
          <p:nvPr/>
        </p:nvSpPr>
        <p:spPr>
          <a:xfrm>
            <a:off x="4306824" y="3081528"/>
            <a:ext cx="4114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추천·조회 수는 보조지표  |  현업 검토와 실제 운송을 거친 물량을 결과지표로 측정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02920" y="3611880"/>
            <a:ext cx="3886200" cy="1984248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3822192"/>
            <a:ext cx="1600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90일 PoC 목표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3017520" y="3794760"/>
            <a:ext cx="1115568" cy="237744"/>
          </a:xfrm>
          <a:prstGeom prst="roundRect">
            <a:avLst>
              <a:gd name="adj" fmla="val 30769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90672" y="380390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목표 · 아직 미검증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731520" y="423367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43068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≥80%</a:t>
            </a:r>
            <a:endParaRPr lang="en-US" sz="1220" dirty="0"/>
          </a:p>
        </p:txBody>
      </p:sp>
      <p:sp>
        <p:nvSpPr>
          <p:cNvPr id="36" name="Text 34"/>
          <p:cNvSpPr/>
          <p:nvPr/>
        </p:nvSpPr>
        <p:spPr>
          <a:xfrm>
            <a:off x="1408176" y="430682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유효 분석률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459736" y="423367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78608" y="43068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≥95%</a:t>
            </a:r>
            <a:endParaRPr lang="en-US" sz="1220" dirty="0"/>
          </a:p>
        </p:txBody>
      </p:sp>
      <p:sp>
        <p:nvSpPr>
          <p:cNvPr id="39" name="Text 37"/>
          <p:cNvSpPr/>
          <p:nvPr/>
        </p:nvSpPr>
        <p:spPr>
          <a:xfrm>
            <a:off x="3136392" y="430682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핵심필드 정확도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731520" y="4892040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DEBEC"/>
          </a:solidFill>
          <a:ln w="10160">
            <a:solidFill>
              <a:srgbClr val="FDEB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" y="49651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0건</a:t>
            </a:r>
            <a:endParaRPr lang="en-US" sz="1220" dirty="0"/>
          </a:p>
        </p:txBody>
      </p:sp>
      <p:sp>
        <p:nvSpPr>
          <p:cNvPr id="42" name="Text 40"/>
          <p:cNvSpPr/>
          <p:nvPr/>
        </p:nvSpPr>
        <p:spPr>
          <a:xfrm>
            <a:off x="1408176" y="49651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치명적 오추천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2459736" y="4892040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78608" y="49651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−50%</a:t>
            </a:r>
            <a:endParaRPr lang="en-US" sz="1220" dirty="0"/>
          </a:p>
        </p:txBody>
      </p:sp>
      <p:sp>
        <p:nvSpPr>
          <p:cNvPr id="45" name="Text 43"/>
          <p:cNvSpPr/>
          <p:nvPr/>
        </p:nvSpPr>
        <p:spPr>
          <a:xfrm>
            <a:off x="3136392" y="49651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사전검토 시간 · 가설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4617720" y="3611880"/>
            <a:ext cx="4023360" cy="1984248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0" y="382219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한계와 다음 단계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4846320" y="4197096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19472" y="42062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1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5650992" y="41879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90일 PoC</a:t>
            </a:r>
            <a:endParaRPr lang="en-US" sz="870" dirty="0"/>
          </a:p>
        </p:txBody>
      </p:sp>
      <p:sp>
        <p:nvSpPr>
          <p:cNvPr id="51" name="Text 49"/>
          <p:cNvSpPr/>
          <p:nvPr/>
        </p:nvSpPr>
        <p:spPr>
          <a:xfrm>
            <a:off x="6784848" y="4187952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익명 실제 사례 100~300건으로 정확도·시간절감·유용성 검증</a:t>
            </a:r>
            <a:endParaRPr lang="en-US" sz="730" dirty="0"/>
          </a:p>
        </p:txBody>
      </p:sp>
      <p:sp>
        <p:nvSpPr>
          <p:cNvPr id="52" name="Shape 50"/>
          <p:cNvSpPr/>
          <p:nvPr/>
        </p:nvSpPr>
        <p:spPr>
          <a:xfrm>
            <a:off x="4846320" y="4636008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19472" y="4645152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2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5650992" y="462686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내부 데이터 연계</a:t>
            </a:r>
            <a:endParaRPr lang="en-US" sz="870" dirty="0"/>
          </a:p>
        </p:txBody>
      </p:sp>
      <p:sp>
        <p:nvSpPr>
          <p:cNvPr id="55" name="Text 53"/>
          <p:cNvSpPr/>
          <p:nvPr/>
        </p:nvSpPr>
        <p:spPr>
          <a:xfrm>
            <a:off x="6784848" y="4626864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실시간 수송력·실운임·역·셔틀 및 권한·감사·버전관리</a:t>
            </a:r>
            <a:endParaRPr lang="en-US" sz="730" dirty="0"/>
          </a:p>
        </p:txBody>
      </p:sp>
      <p:sp>
        <p:nvSpPr>
          <p:cNvPr id="56" name="Shape 54"/>
          <p:cNvSpPr/>
          <p:nvPr/>
        </p:nvSpPr>
        <p:spPr>
          <a:xfrm>
            <a:off x="4846320" y="5074920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19472" y="508406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3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650992" y="50657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회랑·품목 확장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6784848" y="5065776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다른 항만·산업단지·품목과 학습 랭킹·실시간 재계획</a:t>
            </a:r>
            <a:endParaRPr lang="en-US" sz="730" dirty="0"/>
          </a:p>
        </p:txBody>
      </p:sp>
      <p:sp>
        <p:nvSpPr>
          <p:cNvPr id="60" name="Shape 58"/>
          <p:cNvSpPr/>
          <p:nvPr/>
        </p:nvSpPr>
        <p:spPr>
          <a:xfrm>
            <a:off x="4846320" y="5340096"/>
            <a:ext cx="3547872" cy="256032"/>
          </a:xfrm>
          <a:prstGeom prst="roundRect">
            <a:avLst>
              <a:gd name="adj" fmla="val 28571"/>
            </a:avLst>
          </a:prstGeom>
          <a:solidFill>
            <a:srgbClr val="FDEBEC"/>
          </a:solidFill>
          <a:ln w="10160">
            <a:solidFill>
              <a:srgbClr val="FDEBE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56048" y="5376672"/>
            <a:ext cx="3328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한계 · 공개/데모 데이터 · 대표 1개 회랑 · 실시간 실운임·수송력 미연결</a:t>
            </a:r>
            <a:endParaRPr lang="en-US" sz="690" dirty="0"/>
          </a:p>
        </p:txBody>
      </p:sp>
      <p:sp>
        <p:nvSpPr>
          <p:cNvPr id="62" name="Text 60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※ 상단 수치는 해커톤 가상 시나리오의 예상값이며 실제 성과가 아닙니다. PoC 수치는 향후 목표입니다.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기타 · 시연 시나리오 및 제출 정보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8분 안에 문제, 역제안, 화차 채움, 변동 대응, 검토 요청까지 하나의 이야기로 보여줍니다.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075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8분 시연 타임라인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2011680"/>
            <a:ext cx="6967728" cy="0"/>
          </a:xfrm>
          <a:prstGeom prst="line">
            <a:avLst/>
          </a:prstGeom>
          <a:noFill/>
          <a:ln w="27940">
            <a:solidFill>
              <a:srgbClr val="1769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47472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0:00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문제·진입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1682496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82496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508760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0:50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408176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메일·조정 축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2843784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43784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670048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1:40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69464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역제안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005072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05072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831336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3:30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30752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D2D 비교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5166360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66360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992624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4:20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92040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18TEU 달성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6327648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27648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53912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5:20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053328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이탈·대체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7488936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88936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315200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6:40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214616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검토·사유 저장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502920" y="3127248"/>
            <a:ext cx="5120640" cy="2112264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335584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안전·신뢰 체크리스트</a:t>
            </a:r>
            <a:endParaRPr lang="en-US" sz="1220" dirty="0"/>
          </a:p>
        </p:txBody>
      </p:sp>
      <p:sp>
        <p:nvSpPr>
          <p:cNvPr id="39" name="Shape 37"/>
          <p:cNvSpPr/>
          <p:nvPr/>
        </p:nvSpPr>
        <p:spPr>
          <a:xfrm>
            <a:off x="758952" y="3803904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9808" y="37764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042416" y="3749040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확정·예상·확인 필요와 근거·기준일·검토주체를 함께 표시</a:t>
            </a:r>
            <a:endParaRPr lang="en-US" sz="890" dirty="0"/>
          </a:p>
        </p:txBody>
      </p:sp>
      <p:sp>
        <p:nvSpPr>
          <p:cNvPr id="42" name="Shape 40"/>
          <p:cNvSpPr/>
          <p:nvPr/>
        </p:nvSpPr>
        <p:spPr>
          <a:xfrm>
            <a:off x="758952" y="4133088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41056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42416" y="4078224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위험물·특수화물은 자동 계산을 중단하고 담당자 연결</a:t>
            </a:r>
            <a:endParaRPr lang="en-US" sz="890" dirty="0"/>
          </a:p>
        </p:txBody>
      </p:sp>
      <p:sp>
        <p:nvSpPr>
          <p:cNvPr id="45" name="Shape 43"/>
          <p:cNvSpPr/>
          <p:nvPr/>
        </p:nvSpPr>
        <p:spPr>
          <a:xfrm>
            <a:off x="758952" y="4462272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" y="4434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042416" y="4407408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다른 회사명·품목·상세 주소·운임·연락처 비공개</a:t>
            </a:r>
            <a:endParaRPr lang="en-US" sz="890" dirty="0"/>
          </a:p>
        </p:txBody>
      </p:sp>
      <p:sp>
        <p:nvSpPr>
          <p:cNvPr id="48" name="Shape 46"/>
          <p:cNvSpPr/>
          <p:nvPr/>
        </p:nvSpPr>
        <p:spPr>
          <a:xfrm>
            <a:off x="758952" y="4791456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9808" y="47640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42416" y="4736592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예약·계약·결제·배차를 자동 확정하지 않음</a:t>
            </a:r>
            <a:endParaRPr lang="en-US" sz="890" dirty="0"/>
          </a:p>
        </p:txBody>
      </p:sp>
      <p:sp>
        <p:nvSpPr>
          <p:cNvPr id="51" name="Shape 49"/>
          <p:cNvSpPr/>
          <p:nvPr/>
        </p:nvSpPr>
        <p:spPr>
          <a:xfrm>
            <a:off x="5870448" y="3127248"/>
            <a:ext cx="2770632" cy="2112264"/>
          </a:xfrm>
          <a:prstGeom prst="roundRect">
            <a:avLst>
              <a:gd name="adj" fmla="val 3463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26480" y="335584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제출 정보</a:t>
            </a:r>
            <a:endParaRPr lang="en-US" sz="1220" dirty="0"/>
          </a:p>
        </p:txBody>
      </p:sp>
      <p:sp>
        <p:nvSpPr>
          <p:cNvPr id="53" name="Text 51"/>
          <p:cNvSpPr/>
          <p:nvPr/>
        </p:nvSpPr>
        <p:spPr>
          <a:xfrm>
            <a:off x="6126480" y="381304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GitHub</a:t>
            </a:r>
            <a:endParaRPr lang="en-US" sz="820" dirty="0"/>
          </a:p>
        </p:txBody>
      </p:sp>
      <p:sp>
        <p:nvSpPr>
          <p:cNvPr id="54" name="Text 52">
            <a:hlinkClick r:id="rId1" tooltip=""/>
          </p:cNvPr>
          <p:cNvSpPr/>
          <p:nvPr/>
        </p:nvSpPr>
        <p:spPr>
          <a:xfrm>
            <a:off x="6126480" y="4041648"/>
            <a:ext cx="2249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u="sng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github.com/tory-win/Galaxy_Express_99</a:t>
            </a:r>
            <a:endParaRPr lang="en-US" sz="840" dirty="0"/>
          </a:p>
        </p:txBody>
      </p:sp>
      <p:sp>
        <p:nvSpPr>
          <p:cNvPr id="55" name="Text 53"/>
          <p:cNvSpPr/>
          <p:nvPr/>
        </p:nvSpPr>
        <p:spPr>
          <a:xfrm>
            <a:off x="6126480" y="44165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DEMO</a:t>
            </a:r>
            <a:endParaRPr lang="en-US" sz="820" dirty="0"/>
          </a:p>
        </p:txBody>
      </p:sp>
      <p:sp>
        <p:nvSpPr>
          <p:cNvPr id="56" name="Text 54">
            <a:hlinkClick r:id="rId2" tooltip=""/>
          </p:cNvPr>
          <p:cNvSpPr/>
          <p:nvPr/>
        </p:nvSpPr>
        <p:spPr>
          <a:xfrm>
            <a:off x="6126480" y="4636008"/>
            <a:ext cx="22494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u="sng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macmini.tailbba978.ts.net/…/preview/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126480" y="4974336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데모 영상 · 별도 제출</a:t>
            </a:r>
            <a:endParaRPr lang="en-US" sz="810" dirty="0"/>
          </a:p>
        </p:txBody>
      </p:sp>
      <p:sp>
        <p:nvSpPr>
          <p:cNvPr id="58" name="Shape 56"/>
          <p:cNvSpPr/>
          <p:nvPr/>
        </p:nvSpPr>
        <p:spPr>
          <a:xfrm>
            <a:off x="502920" y="5559552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769FF"/>
          </a:solidFill>
          <a:ln w="10160">
            <a:solidFill>
              <a:srgbClr val="1769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3232" y="5678424"/>
            <a:ext cx="7717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“철도를 안내하는 AI가 아니라, 흩어진 화물과 남은 자리를 연결해 실제 수송 조건을 만드는 AI입니다.”</a:t>
            </a:r>
            <a:endParaRPr lang="en-US" sz="1260" dirty="0"/>
          </a:p>
        </p:txBody>
      </p:sp>
      <p:sp>
        <p:nvSpPr>
          <p:cNvPr id="60" name="Shape 58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anum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anum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Galaxy Express 99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RAILPOOL AI · 레일물류 최종 결과보고서</dc:title>
  <dc:subject>MOVE AI CHALLENGE 2026 · 실제 SYSTEM PROMPT 원문과 후처리 규칙 보완</dc:subject>
  <dc:creator>Galaxy Express 99</dc:creator>
  <cp:lastModifiedBy>Galaxy Express 99</cp:lastModifiedBy>
  <cp:revision>1</cp:revision>
  <dcterms:created xsi:type="dcterms:W3CDTF">2026-08-13T04:57:53Z</dcterms:created>
  <dcterms:modified xsi:type="dcterms:W3CDTF">2026-08-13T04:57:53Z</dcterms:modified>
  <dc:description>11페이지 발표 구성 유지 · 핵심 흐름: 문제→역제안→공동수송→사람 승인→PoC 검증</dc:description>
</cp:coreProperties>
</file>