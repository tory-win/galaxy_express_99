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PORT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hyperlink" Target="https://github.com/tory-win/Galaxy_Express_99" TargetMode="External"/><Relationship Id="rId2" Type="http://schemas.openxmlformats.org/officeDocument/2006/relationships/hyperlink" Target="https://macmini.tailbba978.ts.net/galaxy-express/preview/" TargetMode="Externa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23560" cy="685800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3520440" y="-777240"/>
            <a:ext cx="3657600" cy="3657600"/>
          </a:xfrm>
          <a:prstGeom prst="ellipse">
            <a:avLst/>
          </a:prstGeom>
          <a:solidFill>
            <a:srgbClr val="1769FF">
              <a:alpha val="34000"/>
            </a:srgbClr>
          </a:solidFill>
          <a:ln w="12700">
            <a:solidFill>
              <a:srgbClr val="1769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343400" y="4462272"/>
            <a:ext cx="1920240" cy="1920240"/>
          </a:xfrm>
          <a:prstGeom prst="ellipse">
            <a:avLst/>
          </a:prstGeom>
          <a:solidFill>
            <a:srgbClr val="39D98A">
              <a:alpha val="22000"/>
            </a:srgbClr>
          </a:solidFill>
          <a:ln w="12700">
            <a:solidFill>
              <a:srgbClr val="39D98A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30352" y="438912"/>
            <a:ext cx="2267712" cy="274320"/>
          </a:xfrm>
          <a:prstGeom prst="roundRect">
            <a:avLst>
              <a:gd name="adj" fmla="val 26667"/>
            </a:avLst>
          </a:prstGeom>
          <a:solidFill>
            <a:srgbClr val="15345C"/>
          </a:solidFill>
          <a:ln w="12700">
            <a:solidFill>
              <a:srgbClr val="15345C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03504" y="448056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은하철도99  |  MOVE AI CHALLENGE 2026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48640" y="1225296"/>
            <a:ext cx="4617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코레일 플러스 물류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548640" y="190195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86B7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KORAIL PLUS LOGISTICS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2542032"/>
            <a:ext cx="446227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우리가 화주에게
다가갑니다</a:t>
            </a:r>
            <a:endParaRPr lang="en-US" sz="2300" dirty="0"/>
          </a:p>
          <a:p>
            <a:pPr indent="0" marL="0">
              <a:buNone/>
            </a:pP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548640" y="3721608"/>
            <a:ext cx="4526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20" dirty="0">
                <a:solidFill>
                  <a:srgbClr val="C8D7E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화주가 철도를 찾아 헤매지 않도록,
코레일이 먼저 가능한 운송 조건을 설계하고 제안합니다.</a:t>
            </a:r>
            <a:endParaRPr lang="en-US" sz="1120" dirty="0"/>
          </a:p>
          <a:p>
            <a:pPr indent="0" marL="0">
              <a:lnSpc>
                <a:spcPct val="105000"/>
              </a:lnSpc>
              <a:buNone/>
            </a:pPr>
            <a:endParaRPr lang="en-US" sz="1120" dirty="0"/>
          </a:p>
        </p:txBody>
      </p:sp>
      <p:sp>
        <p:nvSpPr>
          <p:cNvPr id="21" name="Shape 19"/>
          <p:cNvSpPr/>
          <p:nvPr/>
        </p:nvSpPr>
        <p:spPr>
          <a:xfrm>
            <a:off x="6121908" y="571500"/>
            <a:ext cx="2587752" cy="5483071"/>
          </a:xfrm>
          <a:prstGeom prst="roundRect">
            <a:avLst>
              <a:gd name="adj" fmla="val 2827"/>
            </a:avLst>
          </a:prstGeom>
          <a:solidFill>
            <a:srgbClr val="FFFFFF"/>
          </a:solidFill>
          <a:ln w="13970">
            <a:solidFill>
              <a:srgbClr val="BFD0E7"/>
            </a:solidFill>
            <a:prstDash val="solid"/>
          </a:ln>
          <a:effectLst>
            <a:outerShdw sx="100000" sy="100000" kx="0" ky="0" algn="bl" rotWithShape="0" blurRad="25400" dist="50800" dir="2700000">
              <a:srgbClr val="0B1F3A">
                <a:alpha val="13000"/>
              </a:srgbClr>
            </a:outerShdw>
          </a:effectLst>
        </p:spPr>
        <p:txBody>
          <a:bodyPr/>
          <a:p/>
        </p:txBody>
      </p:sp>
      <p:pic>
        <p:nvPicPr>
          <p:cNvPr id="22" name="Image 0" descr="/Users/tory/Desktop/기획/최종결과보고서_산출물/제품_캡처/11-live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621792"/>
            <a:ext cx="2487168" cy="5382487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6601968" y="6236208"/>
            <a:ext cx="16459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spc="120" kern="0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통합 물류 서비스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347472"/>
            <a:ext cx="502920" cy="274320"/>
          </a:xfrm>
          <a:prstGeom prst="roundRect">
            <a:avLst>
              <a:gd name="adj" fmla="val 2666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356616"/>
            <a:ext cx="35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33856" y="274320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문제 정의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43000" y="740664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화주는 문전 운송부터 도착 마감까지, 실제 실행 가능한 하나의 답을 원합니다.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75488" y="1078992"/>
            <a:ext cx="8193024" cy="0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02920" y="1298448"/>
            <a:ext cx="8138160" cy="585216"/>
          </a:xfrm>
          <a:prstGeom prst="roundRect">
            <a:avLst>
              <a:gd name="adj" fmla="val 12500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408176"/>
            <a:ext cx="7626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“이용 의향은 있어도 누구에게 무엇을 묻고, 어떤 조건을 바꿔야 하는지 알기 어렵습니다.”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02920" y="2112264"/>
            <a:ext cx="2578608" cy="1517904"/>
          </a:xfrm>
          <a:prstGeom prst="roundRect">
            <a:avLst>
              <a:gd name="adj" fmla="val 4819"/>
            </a:avLst>
          </a:prstGeom>
          <a:solidFill>
            <a:srgbClr val="FFFFFF"/>
          </a:solidFill>
          <a:ln w="10160">
            <a:solidFill>
              <a:srgbClr val="D7DFEA"/>
            </a:solidFill>
            <a:prstDash val="solid"/>
          </a:ln>
          <a:effectLst>
            <a:outerShdw sx="100000" sy="100000" kx="0" ky="0" algn="bl" rotWithShape="0" blurRad="322580000" dist="645160000" dir="162000000000">
              <a:srgbClr val="0B1F3A">
                <a:alpha val="1300000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58368" y="2258568"/>
            <a:ext cx="429768" cy="274320"/>
          </a:xfrm>
          <a:prstGeom prst="roundRect">
            <a:avLst>
              <a:gd name="adj" fmla="val 2666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31520" y="2267712"/>
            <a:ext cx="283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58368" y="2651760"/>
            <a:ext cx="2267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실제 수송 가능성이 불확실</a:t>
            </a:r>
            <a:endParaRPr lang="en-US" sz="1220" dirty="0"/>
          </a:p>
        </p:txBody>
      </p:sp>
      <p:sp>
        <p:nvSpPr>
          <p:cNvPr id="13" name="Text 11"/>
          <p:cNvSpPr/>
          <p:nvPr/>
        </p:nvSpPr>
        <p:spPr>
          <a:xfrm>
            <a:off x="658368" y="3017520"/>
            <a:ext cx="2267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수송력·화차·역 시설·출하일·도착 마감이 동시에 맞는지 미리 알기 어렵습니다.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3273552" y="2112264"/>
            <a:ext cx="2578608" cy="1517904"/>
          </a:xfrm>
          <a:prstGeom prst="roundRect">
            <a:avLst>
              <a:gd name="adj" fmla="val 4819"/>
            </a:avLst>
          </a:prstGeom>
          <a:solidFill>
            <a:srgbClr val="FFFFFF"/>
          </a:solidFill>
          <a:ln w="17780">
            <a:solidFill>
              <a:srgbClr val="1769FF"/>
            </a:solidFill>
            <a:prstDash val="solid"/>
          </a:ln>
          <a:effectLst>
            <a:outerShdw sx="100000" sy="100000" kx="0" ky="0" algn="bl" rotWithShape="0" blurRad="4096766000000" dist="8193532000000" dir="9720000000000000">
              <a:srgbClr val="0B1F3A">
                <a:alpha val="130000000000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3429000" y="2258568"/>
            <a:ext cx="429768" cy="274320"/>
          </a:xfrm>
          <a:prstGeom prst="roundRect">
            <a:avLst>
              <a:gd name="adj" fmla="val 26667"/>
            </a:avLst>
          </a:prstGeom>
          <a:solidFill>
            <a:srgbClr val="1769FF"/>
          </a:solidFill>
          <a:ln w="12700">
            <a:solidFill>
              <a:srgbClr val="1769FF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3502152" y="2267712"/>
            <a:ext cx="283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429000" y="2651760"/>
            <a:ext cx="2267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D2D 비용 비교가 불투명</a:t>
            </a:r>
            <a:endParaRPr lang="en-US" sz="1220" dirty="0"/>
          </a:p>
        </p:txBody>
      </p:sp>
      <p:sp>
        <p:nvSpPr>
          <p:cNvPr id="18" name="Text 16"/>
          <p:cNvSpPr/>
          <p:nvPr/>
        </p:nvSpPr>
        <p:spPr>
          <a:xfrm>
            <a:off x="3429000" y="3017520"/>
            <a:ext cx="2267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철도운임뿐 아니라 문전 트럭·상하차·대기비까지 합쳐야 도로와 비교할 수 있습니다.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6044184" y="2112264"/>
            <a:ext cx="2578608" cy="1517904"/>
          </a:xfrm>
          <a:prstGeom prst="roundRect">
            <a:avLst>
              <a:gd name="adj" fmla="val 4819"/>
            </a:avLst>
          </a:prstGeom>
          <a:solidFill>
            <a:srgbClr val="FFFFFF"/>
          </a:solidFill>
          <a:ln w="10160">
            <a:solidFill>
              <a:srgbClr val="D7DFEA"/>
            </a:solidFill>
            <a:prstDash val="solid"/>
          </a:ln>
          <a:effectLst>
            <a:outerShdw sx="100000" sy="100000" kx="0" ky="0" algn="bl" rotWithShape="0" blurRad="52028928200000000" dist="104057856400000000" dir="583200000000000000000">
              <a:srgbClr val="0B1F3A">
                <a:alpha val="13000000000000000000"/>
              </a:srgbClr>
            </a:outerShdw>
          </a:effectLst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199632" y="2258568"/>
            <a:ext cx="429768" cy="274320"/>
          </a:xfrm>
          <a:prstGeom prst="roundRect">
            <a:avLst>
              <a:gd name="adj" fmla="val 2666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272784" y="2267712"/>
            <a:ext cx="283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03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199632" y="2651760"/>
            <a:ext cx="2267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정보·대응이 흩어져 있음</a:t>
            </a:r>
            <a:endParaRPr lang="en-US" sz="1220" dirty="0"/>
          </a:p>
        </p:txBody>
      </p:sp>
      <p:sp>
        <p:nvSpPr>
          <p:cNvPr id="23" name="Text 21"/>
          <p:cNvSpPr/>
          <p:nvPr/>
        </p:nvSpPr>
        <p:spPr>
          <a:xfrm>
            <a:off x="6199632" y="3017520"/>
            <a:ext cx="2267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가용 조건과 대체안이 여러 담당자·시스템에 나뉘어 “안 됩니다” 다음 답이 없습니다.</a:t>
            </a:r>
            <a:endParaRPr lang="en-US" sz="920" dirty="0"/>
          </a:p>
        </p:txBody>
      </p:sp>
      <p:sp>
        <p:nvSpPr>
          <p:cNvPr id="24" name="Text 22"/>
          <p:cNvSpPr/>
          <p:nvPr/>
        </p:nvSpPr>
        <p:spPr>
          <a:xfrm>
            <a:off x="566928" y="395020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각자 단독으로는 비효율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4315968"/>
            <a:ext cx="530352" cy="530352"/>
          </a:xfrm>
          <a:prstGeom prst="ellipse">
            <a:avLst/>
          </a:prstGeom>
          <a:solidFill>
            <a:srgbClr val="EAF2FF"/>
          </a:solidFill>
          <a:ln w="11430">
            <a:solidFill>
              <a:srgbClr val="1769FF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566928" y="4407408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66928" y="4645152"/>
            <a:ext cx="5303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TEU</a:t>
            </a:r>
            <a:endParaRPr lang="en-US" sz="670" dirty="0"/>
          </a:p>
        </p:txBody>
      </p:sp>
      <p:sp>
        <p:nvSpPr>
          <p:cNvPr id="28" name="Text 26"/>
          <p:cNvSpPr/>
          <p:nvPr/>
        </p:nvSpPr>
        <p:spPr>
          <a:xfrm>
            <a:off x="1143000" y="4443984"/>
            <a:ext cx="155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+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353312" y="4315968"/>
            <a:ext cx="530352" cy="530352"/>
          </a:xfrm>
          <a:prstGeom prst="ellipse">
            <a:avLst/>
          </a:prstGeom>
          <a:solidFill>
            <a:srgbClr val="D9E8FF"/>
          </a:solidFill>
          <a:ln w="11430">
            <a:solidFill>
              <a:srgbClr val="1769FF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1353312" y="4407408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3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353312" y="4645152"/>
            <a:ext cx="5303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TEU</a:t>
            </a:r>
            <a:endParaRPr lang="en-US" sz="670" dirty="0"/>
          </a:p>
        </p:txBody>
      </p:sp>
      <p:sp>
        <p:nvSpPr>
          <p:cNvPr id="32" name="Text 30"/>
          <p:cNvSpPr/>
          <p:nvPr/>
        </p:nvSpPr>
        <p:spPr>
          <a:xfrm>
            <a:off x="1929384" y="4443984"/>
            <a:ext cx="155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+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139696" y="4315968"/>
            <a:ext cx="530352" cy="530352"/>
          </a:xfrm>
          <a:prstGeom prst="ellipse">
            <a:avLst/>
          </a:prstGeom>
          <a:solidFill>
            <a:srgbClr val="EAF2FF"/>
          </a:solidFill>
          <a:ln w="11430">
            <a:solidFill>
              <a:srgbClr val="1769FF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2139696" y="4407408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4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2139696" y="4645152"/>
            <a:ext cx="5303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TEU</a:t>
            </a:r>
            <a:endParaRPr lang="en-US" sz="670" dirty="0"/>
          </a:p>
        </p:txBody>
      </p:sp>
      <p:sp>
        <p:nvSpPr>
          <p:cNvPr id="36" name="Text 34"/>
          <p:cNvSpPr/>
          <p:nvPr/>
        </p:nvSpPr>
        <p:spPr>
          <a:xfrm>
            <a:off x="2715768" y="4443984"/>
            <a:ext cx="155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+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926080" y="4315968"/>
            <a:ext cx="530352" cy="530352"/>
          </a:xfrm>
          <a:prstGeom prst="ellipse">
            <a:avLst/>
          </a:prstGeom>
          <a:solidFill>
            <a:srgbClr val="D9E8FF"/>
          </a:solidFill>
          <a:ln w="11430">
            <a:solidFill>
              <a:srgbClr val="1769FF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2926080" y="4407408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3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2926080" y="4645152"/>
            <a:ext cx="5303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TEU</a:t>
            </a:r>
            <a:endParaRPr lang="en-US" sz="670" dirty="0"/>
          </a:p>
        </p:txBody>
      </p:sp>
      <p:sp>
        <p:nvSpPr>
          <p:cNvPr id="40" name="Text 38"/>
          <p:cNvSpPr/>
          <p:nvPr/>
        </p:nvSpPr>
        <p:spPr>
          <a:xfrm>
            <a:off x="3502152" y="4443984"/>
            <a:ext cx="155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+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712464" y="4315968"/>
            <a:ext cx="530352" cy="530352"/>
          </a:xfrm>
          <a:prstGeom prst="ellipse">
            <a:avLst/>
          </a:prstGeom>
          <a:solidFill>
            <a:srgbClr val="EAF2FF"/>
          </a:solidFill>
          <a:ln w="11430">
            <a:solidFill>
              <a:srgbClr val="1769FF"/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3712464" y="4407408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4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3712464" y="4645152"/>
            <a:ext cx="5303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TEU</a:t>
            </a:r>
            <a:endParaRPr lang="en-US" sz="670" dirty="0"/>
          </a:p>
        </p:txBody>
      </p:sp>
      <p:sp>
        <p:nvSpPr>
          <p:cNvPr id="44" name="Shape 42"/>
          <p:cNvSpPr/>
          <p:nvPr/>
        </p:nvSpPr>
        <p:spPr>
          <a:xfrm>
            <a:off x="4608576" y="4562856"/>
            <a:ext cx="685800" cy="0"/>
          </a:xfrm>
          <a:prstGeom prst="line">
            <a:avLst/>
          </a:prstGeom>
          <a:noFill/>
          <a:ln w="25400">
            <a:solidFill>
              <a:srgbClr val="1769FF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45" name="Shape 43"/>
          <p:cNvSpPr/>
          <p:nvPr/>
        </p:nvSpPr>
        <p:spPr>
          <a:xfrm>
            <a:off x="5440680" y="4151376"/>
            <a:ext cx="3182112" cy="932688"/>
          </a:xfrm>
          <a:prstGeom prst="roundRect">
            <a:avLst>
              <a:gd name="adj" fmla="val 7843"/>
            </a:avLst>
          </a:prstGeom>
          <a:solidFill>
            <a:srgbClr val="E8F8F1"/>
          </a:solidFill>
          <a:ln w="17780">
            <a:solidFill>
              <a:srgbClr val="39D98A"/>
            </a:solidFill>
            <a:prstDash val="solid"/>
          </a:ln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5650992" y="4279392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18 TEU</a:t>
            </a:r>
            <a:endParaRPr lang="en-US" sz="2100" dirty="0"/>
          </a:p>
        </p:txBody>
      </p:sp>
      <p:sp>
        <p:nvSpPr>
          <p:cNvPr id="47" name="Text 45"/>
          <p:cNvSpPr/>
          <p:nvPr/>
        </p:nvSpPr>
        <p:spPr>
          <a:xfrm>
            <a:off x="6739128" y="432511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10" b="1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같은 회차 조합으로 목표 물량 달성</a:t>
            </a:r>
            <a:endParaRPr lang="en-US" sz="1010" dirty="0"/>
          </a:p>
        </p:txBody>
      </p:sp>
      <p:sp>
        <p:nvSpPr>
          <p:cNvPr id="48" name="Text 46"/>
          <p:cNvSpPr/>
          <p:nvPr/>
        </p:nvSpPr>
        <p:spPr>
          <a:xfrm>
            <a:off x="5650992" y="4663440"/>
            <a:ext cx="2724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개별 컨테이너는 섞이지 않고 같은 열차를 이용합니다.</a:t>
            </a:r>
            <a:endParaRPr lang="en-US" sz="820" dirty="0"/>
          </a:p>
        </p:txBody>
      </p:sp>
      <p:sp>
        <p:nvSpPr>
          <p:cNvPr id="49" name="Shape 47"/>
          <p:cNvSpPr/>
          <p:nvPr/>
        </p:nvSpPr>
        <p:spPr>
          <a:xfrm>
            <a:off x="502920" y="5349240"/>
            <a:ext cx="8138160" cy="658368"/>
          </a:xfrm>
          <a:prstGeom prst="roundRect">
            <a:avLst>
              <a:gd name="adj" fmla="val 11111"/>
            </a:avLst>
          </a:prstGeom>
          <a:solidFill>
            <a:srgbClr val="EEF2F8"/>
          </a:solidFill>
          <a:ln w="10160">
            <a:solidFill>
              <a:srgbClr val="EEF2F8"/>
            </a:solidFill>
            <a:prstDash val="solid"/>
          </a:ln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713232" y="5532120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핵심 타깃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517904" y="5504688"/>
            <a:ext cx="6812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철도 전담 계약이 없는 중소·중견 화주 · 소량 반복 발송사 · 계절 변동형 화주 · 포워더</a:t>
            </a:r>
            <a:endParaRPr lang="en-US" sz="1020" dirty="0"/>
          </a:p>
        </p:txBody>
      </p:sp>
      <p:sp>
        <p:nvSpPr>
          <p:cNvPr id="52" name="Shape 50"/>
          <p:cNvSpPr/>
          <p:nvPr/>
        </p:nvSpPr>
        <p:spPr>
          <a:xfrm>
            <a:off x="475488" y="6437376"/>
            <a:ext cx="8193024" cy="0"/>
          </a:xfrm>
          <a:prstGeom prst="line">
            <a:avLst/>
          </a:prstGeom>
          <a:noFill/>
          <a:ln w="889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475488" y="6492240"/>
            <a:ext cx="3886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MOVE AI CHALLENGE 2026 · 레일 물류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8229600" y="649224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02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347472"/>
            <a:ext cx="502920" cy="274320"/>
          </a:xfrm>
          <a:prstGeom prst="roundRect">
            <a:avLst>
              <a:gd name="adj" fmla="val 2666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356616"/>
            <a:ext cx="35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33856" y="274320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해결책 · 코레일 플러스 물류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43000" y="740664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탐색·비교·공동수송·검토 요청을 하나로 잇는 화주 중심 통합 서비스입니다.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75488" y="1078992"/>
            <a:ext cx="8193024" cy="0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02920" y="1307592"/>
            <a:ext cx="5413248" cy="841248"/>
          </a:xfrm>
          <a:prstGeom prst="roundRect">
            <a:avLst>
              <a:gd name="adj" fmla="val 8696"/>
            </a:avLst>
          </a:prstGeom>
          <a:solidFill>
            <a:srgbClr val="1769FF"/>
          </a:solidFill>
          <a:ln w="10160">
            <a:solidFill>
              <a:srgbClr val="1769F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1453896"/>
            <a:ext cx="49651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2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화주가 찾아오는 물류가 아니라,
코레일이 가능한 조건을 만들어 먼저 제안하는 통합 서비스</a:t>
            </a:r>
            <a:endParaRPr lang="en-US" sz="1520" dirty="0"/>
          </a:p>
          <a:p>
            <a:pPr indent="0" marL="0">
              <a:buNone/>
            </a:pPr>
            <a:endParaRPr lang="en-US" sz="1520" dirty="0"/>
          </a:p>
        </p:txBody>
      </p:sp>
      <p:sp>
        <p:nvSpPr>
          <p:cNvPr id="9" name="Shape 7"/>
          <p:cNvSpPr/>
          <p:nvPr/>
        </p:nvSpPr>
        <p:spPr>
          <a:xfrm>
            <a:off x="502920" y="2450592"/>
            <a:ext cx="1645920" cy="969264"/>
          </a:xfrm>
          <a:prstGeom prst="roundRect">
            <a:avLst>
              <a:gd name="adj" fmla="val 7547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9224" y="2578608"/>
            <a:ext cx="1353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바로 검토</a:t>
            </a:r>
            <a:endParaRPr lang="en-US" sz="1060" dirty="0"/>
          </a:p>
        </p:txBody>
      </p:sp>
      <p:sp>
        <p:nvSpPr>
          <p:cNvPr id="11" name="Text 9"/>
          <p:cNvSpPr/>
          <p:nvPr/>
        </p:nvSpPr>
        <p:spPr>
          <a:xfrm>
            <a:off x="649224" y="2862072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조건 변경 없이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담당자 확인으로 연결</a:t>
            </a:r>
            <a:endParaRPr lang="en-US" sz="830" dirty="0"/>
          </a:p>
        </p:txBody>
      </p:sp>
      <p:sp>
        <p:nvSpPr>
          <p:cNvPr id="12" name="Shape 10"/>
          <p:cNvSpPr/>
          <p:nvPr/>
        </p:nvSpPr>
        <p:spPr>
          <a:xfrm>
            <a:off x="2304288" y="2450592"/>
            <a:ext cx="1645920" cy="969264"/>
          </a:xfrm>
          <a:prstGeom prst="roundRect">
            <a:avLst>
              <a:gd name="adj" fmla="val 7547"/>
            </a:avLst>
          </a:prstGeom>
          <a:solidFill>
            <a:srgbClr val="EAF2FF"/>
          </a:solidFill>
          <a:ln w="10160">
            <a:solidFill>
              <a:srgbClr val="EAF2F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450592" y="2578608"/>
            <a:ext cx="1353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조건부 전환</a:t>
            </a:r>
            <a:endParaRPr lang="en-US" sz="1060" dirty="0"/>
          </a:p>
        </p:txBody>
      </p:sp>
      <p:sp>
        <p:nvSpPr>
          <p:cNvPr id="14" name="Text 12"/>
          <p:cNvSpPr/>
          <p:nvPr/>
        </p:nvSpPr>
        <p:spPr>
          <a:xfrm>
            <a:off x="2450592" y="2862072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7개 축에서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최소 변경안 제시</a:t>
            </a:r>
            <a:endParaRPr lang="en-US" sz="830" dirty="0"/>
          </a:p>
        </p:txBody>
      </p:sp>
      <p:sp>
        <p:nvSpPr>
          <p:cNvPr id="15" name="Shape 13"/>
          <p:cNvSpPr/>
          <p:nvPr/>
        </p:nvSpPr>
        <p:spPr>
          <a:xfrm>
            <a:off x="4105656" y="2450592"/>
            <a:ext cx="1645920" cy="969264"/>
          </a:xfrm>
          <a:prstGeom prst="roundRect">
            <a:avLst>
              <a:gd name="adj" fmla="val 7547"/>
            </a:avLst>
          </a:prstGeom>
          <a:solidFill>
            <a:srgbClr val="FFF3DC"/>
          </a:solidFill>
          <a:ln w="10160">
            <a:solidFill>
              <a:srgbClr val="FFF3DC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251960" y="2578608"/>
            <a:ext cx="1353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9B620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이번엔 유지</a:t>
            </a:r>
            <a:endParaRPr lang="en-US" sz="1060" dirty="0"/>
          </a:p>
        </p:txBody>
      </p:sp>
      <p:sp>
        <p:nvSpPr>
          <p:cNvPr id="17" name="Text 15"/>
          <p:cNvSpPr/>
          <p:nvPr/>
        </p:nvSpPr>
        <p:spPr>
          <a:xfrm>
            <a:off x="4251960" y="2862072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되는 조건과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재검토 시점 안내</a:t>
            </a:r>
            <a:endParaRPr lang="en-US" sz="830" dirty="0"/>
          </a:p>
        </p:txBody>
      </p:sp>
      <p:sp>
        <p:nvSpPr>
          <p:cNvPr id="18" name="Text 16"/>
          <p:cNvSpPr/>
          <p:nvPr/>
        </p:nvSpPr>
        <p:spPr>
          <a:xfrm>
            <a:off x="502920" y="376732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사용자 흐름</a:t>
            </a:r>
            <a:endParaRPr lang="en-US" sz="1120" dirty="0"/>
          </a:p>
        </p:txBody>
      </p:sp>
      <p:sp>
        <p:nvSpPr>
          <p:cNvPr id="19" name="Shape 17"/>
          <p:cNvSpPr/>
          <p:nvPr/>
        </p:nvSpPr>
        <p:spPr>
          <a:xfrm>
            <a:off x="502920" y="4133088"/>
            <a:ext cx="1627632" cy="566928"/>
          </a:xfrm>
          <a:prstGeom prst="roundRect">
            <a:avLst>
              <a:gd name="adj" fmla="val 12903"/>
            </a:avLst>
          </a:prstGeom>
          <a:solidFill>
            <a:srgbClr val="EAF2FF"/>
          </a:solidFill>
          <a:ln w="10160">
            <a:solidFill>
              <a:srgbClr val="EAF2FF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94360" y="4215384"/>
            <a:ext cx="310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01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94360" y="4398264"/>
            <a:ext cx="1444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b="1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메일 붙여넣기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2148840" y="4416552"/>
            <a:ext cx="109728" cy="0"/>
          </a:xfrm>
          <a:prstGeom prst="line">
            <a:avLst/>
          </a:prstGeom>
          <a:noFill/>
          <a:ln w="15240">
            <a:solidFill>
              <a:srgbClr val="D7DFEA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2295144" y="4133088"/>
            <a:ext cx="1627632" cy="566928"/>
          </a:xfrm>
          <a:prstGeom prst="roundRect">
            <a:avLst>
              <a:gd name="adj" fmla="val 12903"/>
            </a:avLst>
          </a:prstGeom>
          <a:solidFill>
            <a:srgbClr val="EAF2FF"/>
          </a:solidFill>
          <a:ln w="10160">
            <a:solidFill>
              <a:srgbClr val="EAF2FF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2386584" y="4215384"/>
            <a:ext cx="310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02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2386584" y="4398264"/>
            <a:ext cx="1444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b="1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조건 자동 인식</a:t>
            </a:r>
            <a:endParaRPr lang="en-US" sz="930" dirty="0"/>
          </a:p>
        </p:txBody>
      </p:sp>
      <p:sp>
        <p:nvSpPr>
          <p:cNvPr id="26" name="Shape 24"/>
          <p:cNvSpPr/>
          <p:nvPr/>
        </p:nvSpPr>
        <p:spPr>
          <a:xfrm>
            <a:off x="3941064" y="4416552"/>
            <a:ext cx="109728" cy="0"/>
          </a:xfrm>
          <a:prstGeom prst="line">
            <a:avLst/>
          </a:prstGeom>
          <a:noFill/>
          <a:ln w="15240">
            <a:solidFill>
              <a:srgbClr val="D7DFEA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4087368" y="4133088"/>
            <a:ext cx="1627632" cy="566928"/>
          </a:xfrm>
          <a:prstGeom prst="roundRect">
            <a:avLst>
              <a:gd name="adj" fmla="val 12903"/>
            </a:avLst>
          </a:prstGeom>
          <a:solidFill>
            <a:srgbClr val="EAF2FF"/>
          </a:solidFill>
          <a:ln w="10160">
            <a:solidFill>
              <a:srgbClr val="EAF2FF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4178808" y="4215384"/>
            <a:ext cx="310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03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178808" y="4398264"/>
            <a:ext cx="1444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b="1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7개 조정 축</a:t>
            </a:r>
            <a:endParaRPr lang="en-US" sz="930" dirty="0"/>
          </a:p>
        </p:txBody>
      </p:sp>
      <p:sp>
        <p:nvSpPr>
          <p:cNvPr id="30" name="Shape 28"/>
          <p:cNvSpPr/>
          <p:nvPr/>
        </p:nvSpPr>
        <p:spPr>
          <a:xfrm>
            <a:off x="502920" y="4855464"/>
            <a:ext cx="1627632" cy="566928"/>
          </a:xfrm>
          <a:prstGeom prst="roundRect">
            <a:avLst>
              <a:gd name="adj" fmla="val 12903"/>
            </a:avLst>
          </a:prstGeom>
          <a:solidFill>
            <a:srgbClr val="EAF2FF"/>
          </a:solidFill>
          <a:ln w="10160">
            <a:solidFill>
              <a:srgbClr val="EAF2FF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594360" y="4937760"/>
            <a:ext cx="310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04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5120640"/>
            <a:ext cx="1444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b="1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판정·AI 역제안</a:t>
            </a:r>
            <a:endParaRPr lang="en-US" sz="930" dirty="0"/>
          </a:p>
        </p:txBody>
      </p:sp>
      <p:sp>
        <p:nvSpPr>
          <p:cNvPr id="33" name="Shape 31"/>
          <p:cNvSpPr/>
          <p:nvPr/>
        </p:nvSpPr>
        <p:spPr>
          <a:xfrm>
            <a:off x="2148840" y="5138928"/>
            <a:ext cx="109728" cy="0"/>
          </a:xfrm>
          <a:prstGeom prst="line">
            <a:avLst/>
          </a:prstGeom>
          <a:noFill/>
          <a:ln w="15240">
            <a:solidFill>
              <a:srgbClr val="D7DFEA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2295144" y="4855464"/>
            <a:ext cx="1627632" cy="566928"/>
          </a:xfrm>
          <a:prstGeom prst="roundRect">
            <a:avLst>
              <a:gd name="adj" fmla="val 12903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2386584" y="4937760"/>
            <a:ext cx="310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05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386584" y="5120640"/>
            <a:ext cx="1444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b="1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익명 함께 보내기</a:t>
            </a:r>
            <a:endParaRPr lang="en-US" sz="930" dirty="0"/>
          </a:p>
        </p:txBody>
      </p:sp>
      <p:sp>
        <p:nvSpPr>
          <p:cNvPr id="37" name="Shape 35"/>
          <p:cNvSpPr/>
          <p:nvPr/>
        </p:nvSpPr>
        <p:spPr>
          <a:xfrm>
            <a:off x="3941064" y="5138928"/>
            <a:ext cx="109728" cy="0"/>
          </a:xfrm>
          <a:prstGeom prst="line">
            <a:avLst/>
          </a:prstGeom>
          <a:noFill/>
          <a:ln w="15240">
            <a:solidFill>
              <a:srgbClr val="D7DFEA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4087368" y="4855464"/>
            <a:ext cx="1627632" cy="566928"/>
          </a:xfrm>
          <a:prstGeom prst="roundRect">
            <a:avLst>
              <a:gd name="adj" fmla="val 12903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4178808" y="4937760"/>
            <a:ext cx="310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06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178808" y="5120640"/>
            <a:ext cx="1444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b="1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코레일 검토·사유 저장</a:t>
            </a:r>
            <a:endParaRPr lang="en-US" sz="930" dirty="0"/>
          </a:p>
        </p:txBody>
      </p:sp>
      <p:sp>
        <p:nvSpPr>
          <p:cNvPr id="41" name="Shape 39"/>
          <p:cNvSpPr/>
          <p:nvPr/>
        </p:nvSpPr>
        <p:spPr>
          <a:xfrm>
            <a:off x="502920" y="5568696"/>
            <a:ext cx="5413248" cy="438912"/>
          </a:xfrm>
          <a:prstGeom prst="roundRect">
            <a:avLst>
              <a:gd name="adj" fmla="val 16667"/>
            </a:avLst>
          </a:prstGeom>
          <a:solidFill>
            <a:srgbClr val="FFF3DC"/>
          </a:solidFill>
          <a:ln w="10160">
            <a:solidFill>
              <a:srgbClr val="FFF3DC"/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667512" y="5669280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8B540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운영 경계  |  예약·계약·결제·배차를 자동 확정하지 않고 담당자 검토 요청까지 수행</a:t>
            </a:r>
            <a:endParaRPr lang="en-US" sz="920" dirty="0"/>
          </a:p>
        </p:txBody>
      </p:sp>
      <p:sp>
        <p:nvSpPr>
          <p:cNvPr id="43" name="Shape 41"/>
          <p:cNvSpPr/>
          <p:nvPr/>
        </p:nvSpPr>
        <p:spPr>
          <a:xfrm>
            <a:off x="6478524" y="1239012"/>
            <a:ext cx="2093976" cy="4414489"/>
          </a:xfrm>
          <a:prstGeom prst="roundRect">
            <a:avLst>
              <a:gd name="adj" fmla="val 3493"/>
            </a:avLst>
          </a:prstGeom>
          <a:solidFill>
            <a:srgbClr val="FFFFFF"/>
          </a:solidFill>
          <a:ln w="13970">
            <a:solidFill>
              <a:srgbClr val="BFD0E7"/>
            </a:solidFill>
            <a:prstDash val="solid"/>
          </a:ln>
          <a:effectLst>
            <a:outerShdw sx="100000" sy="100000" kx="0" ky="0" algn="bl" rotWithShape="0" blurRad="660767388140000000000" dist="1.32153477628e+21" dir="3.4992e+25">
              <a:srgbClr val="0B1F3A">
                <a:alpha val="1.3e+24"/>
              </a:srgbClr>
            </a:outerShdw>
          </a:effectLst>
        </p:spPr>
        <p:txBody>
          <a:bodyPr/>
          <a:p/>
        </p:txBody>
      </p:sp>
      <p:pic>
        <p:nvPicPr>
          <p:cNvPr id="44" name="Image 0" descr="/Users/tory/Desktop/기획/최종결과보고서_산출물/제품_캡처/01-korail-ent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8816" y="1289304"/>
            <a:ext cx="1993392" cy="4313905"/>
          </a:xfrm>
          <a:prstGeom prst="rect">
            <a:avLst/>
          </a:prstGeom>
        </p:spPr>
      </p:pic>
      <p:sp>
        <p:nvSpPr>
          <p:cNvPr id="45" name="Shape 42"/>
          <p:cNvSpPr/>
          <p:nvPr/>
        </p:nvSpPr>
        <p:spPr>
          <a:xfrm>
            <a:off x="6318504" y="5715000"/>
            <a:ext cx="2414016" cy="274320"/>
          </a:xfrm>
          <a:prstGeom prst="roundRect">
            <a:avLst>
              <a:gd name="adj" fmla="val 2666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  <p:txBody>
          <a:bodyPr/>
          <a:p/>
        </p:txBody>
      </p:sp>
      <p:sp>
        <p:nvSpPr>
          <p:cNvPr id="46" name="Text 43"/>
          <p:cNvSpPr/>
          <p:nvPr/>
        </p:nvSpPr>
        <p:spPr>
          <a:xfrm>
            <a:off x="6391656" y="5724144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대표 범위 · 충남 서북부→부산신항</a:t>
            </a:r>
            <a:endParaRPr lang="en-US" sz="840" dirty="0"/>
          </a:p>
        </p:txBody>
      </p:sp>
      <p:sp>
        <p:nvSpPr>
          <p:cNvPr id="47" name="Shape 44"/>
          <p:cNvSpPr/>
          <p:nvPr/>
        </p:nvSpPr>
        <p:spPr>
          <a:xfrm>
            <a:off x="475488" y="6437376"/>
            <a:ext cx="8193024" cy="0"/>
          </a:xfrm>
          <a:prstGeom prst="line">
            <a:avLst/>
          </a:prstGeom>
          <a:noFill/>
          <a:ln w="889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48" name="Text 45"/>
          <p:cNvSpPr/>
          <p:nvPr/>
        </p:nvSpPr>
        <p:spPr>
          <a:xfrm>
            <a:off x="475488" y="6492240"/>
            <a:ext cx="3886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MOVE AI CHALLENGE 2026 · 레일 물류</a:t>
            </a:r>
            <a:endParaRPr lang="en-US" sz="750" dirty="0"/>
          </a:p>
        </p:txBody>
      </p:sp>
      <p:sp>
        <p:nvSpPr>
          <p:cNvPr id="49" name="Text 46"/>
          <p:cNvSpPr/>
          <p:nvPr/>
        </p:nvSpPr>
        <p:spPr>
          <a:xfrm>
            <a:off x="8229600" y="649224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03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347472"/>
            <a:ext cx="502920" cy="274320"/>
          </a:xfrm>
          <a:prstGeom prst="roundRect">
            <a:avLst>
              <a:gd name="adj" fmla="val 2666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356616"/>
            <a:ext cx="35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33856" y="274320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서비스 구성도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43000" y="740664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사용자 채널, 판단 엔진, 데이터·에이전트 네트워크를 분리해 신뢰성과 확장성을 확보했습니다.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75488" y="1078992"/>
            <a:ext cx="8193024" cy="0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30352" y="1481328"/>
            <a:ext cx="1225296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4605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627632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화주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1956816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메일·조건 입력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수락·거절 결정</a:t>
            </a:r>
            <a:endParaRPr lang="en-US" sz="830" dirty="0"/>
          </a:p>
        </p:txBody>
      </p:sp>
      <p:sp>
        <p:nvSpPr>
          <p:cNvPr id="10" name="Shape 8"/>
          <p:cNvSpPr/>
          <p:nvPr/>
        </p:nvSpPr>
        <p:spPr>
          <a:xfrm>
            <a:off x="1801368" y="2011680"/>
            <a:ext cx="146304" cy="0"/>
          </a:xfrm>
          <a:prstGeom prst="line">
            <a:avLst/>
          </a:prstGeom>
          <a:noFill/>
          <a:ln w="19050">
            <a:solidFill>
              <a:srgbClr val="1769FF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993392" y="1481328"/>
            <a:ext cx="1389888" cy="1078992"/>
          </a:xfrm>
          <a:prstGeom prst="roundRect">
            <a:avLst>
              <a:gd name="adj" fmla="val 6780"/>
            </a:avLst>
          </a:prstGeom>
          <a:solidFill>
            <a:srgbClr val="EAF2FF"/>
          </a:solidFill>
          <a:ln w="14605">
            <a:solidFill>
              <a:srgbClr val="1769FF"/>
            </a:solidFill>
            <a:prstDash val="solid"/>
          </a:ln>
          <a:effectLst>
            <a:outerShdw sx="100000" sy="100000" kx="0" ky="0" algn="bl" rotWithShape="0" blurRad="8.391745829378e+24" dist="1.6783491658756e+25" dir="2.09952e+30">
              <a:srgbClr val="0B1F3A">
                <a:alpha val="1.3e+29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103120" y="1627632"/>
            <a:ext cx="11704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코레일+ UI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103120" y="1956816"/>
            <a:ext cx="11704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React 19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Vite 7 · 모바일</a:t>
            </a:r>
            <a:endParaRPr lang="en-US" sz="830" dirty="0"/>
          </a:p>
        </p:txBody>
      </p:sp>
      <p:sp>
        <p:nvSpPr>
          <p:cNvPr id="14" name="Shape 12"/>
          <p:cNvSpPr/>
          <p:nvPr/>
        </p:nvSpPr>
        <p:spPr>
          <a:xfrm>
            <a:off x="3429000" y="2011680"/>
            <a:ext cx="219456" cy="0"/>
          </a:xfrm>
          <a:prstGeom prst="line">
            <a:avLst/>
          </a:prstGeom>
          <a:noFill/>
          <a:ln w="19050">
            <a:solidFill>
              <a:srgbClr val="1769FF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3694176" y="1481328"/>
            <a:ext cx="1591056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4605">
            <a:solidFill>
              <a:srgbClr val="1769FF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3803904" y="1627632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서비스 API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803904" y="1956816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Node 22 · Express 5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검증·오케스트레이션</a:t>
            </a:r>
            <a:endParaRPr lang="en-US" sz="830" dirty="0"/>
          </a:p>
        </p:txBody>
      </p:sp>
      <p:sp>
        <p:nvSpPr>
          <p:cNvPr id="18" name="Shape 16"/>
          <p:cNvSpPr/>
          <p:nvPr/>
        </p:nvSpPr>
        <p:spPr>
          <a:xfrm>
            <a:off x="5330952" y="2011680"/>
            <a:ext cx="219456" cy="0"/>
          </a:xfrm>
          <a:prstGeom prst="line">
            <a:avLst/>
          </a:prstGeom>
          <a:noFill/>
          <a:ln w="19050">
            <a:solidFill>
              <a:srgbClr val="1769FF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5596128" y="1481328"/>
            <a:ext cx="1389888" cy="1078992"/>
          </a:xfrm>
          <a:prstGeom prst="roundRect">
            <a:avLst>
              <a:gd name="adj" fmla="val 6780"/>
            </a:avLst>
          </a:prstGeom>
          <a:solidFill>
            <a:srgbClr val="E8F8F1"/>
          </a:solidFill>
          <a:ln w="14605">
            <a:solidFill>
              <a:srgbClr val="39D98A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705856" y="1627632"/>
            <a:ext cx="11704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판단 엔진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705856" y="1956816"/>
            <a:ext cx="11704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역제안 규칙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비용·시간·탄소</a:t>
            </a:r>
            <a:endParaRPr lang="en-US" sz="830" dirty="0"/>
          </a:p>
        </p:txBody>
      </p:sp>
      <p:sp>
        <p:nvSpPr>
          <p:cNvPr id="22" name="Shape 20"/>
          <p:cNvSpPr/>
          <p:nvPr/>
        </p:nvSpPr>
        <p:spPr>
          <a:xfrm>
            <a:off x="7031736" y="2011680"/>
            <a:ext cx="210312" cy="0"/>
          </a:xfrm>
          <a:prstGeom prst="line">
            <a:avLst/>
          </a:prstGeom>
          <a:noFill/>
          <a:ln w="19050">
            <a:solidFill>
              <a:srgbClr val="1769FF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7287768" y="1481328"/>
            <a:ext cx="1353312" cy="1078992"/>
          </a:xfrm>
          <a:prstGeom prst="roundRect">
            <a:avLst>
              <a:gd name="adj" fmla="val 6780"/>
            </a:avLst>
          </a:prstGeom>
          <a:solidFill>
            <a:srgbClr val="EAF2FF"/>
          </a:solidFill>
          <a:ln w="14605">
            <a:solidFill>
              <a:srgbClr val="1769FF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7397496" y="1627632"/>
            <a:ext cx="11338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AI 추출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397496" y="1956816"/>
            <a:ext cx="11338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gpt-5.6-sol</a:t>
            </a:r>
            <a:endParaRPr lang="en-US" sz="830" dirty="0"/>
          </a:p>
          <a:p>
            <a:pPr algn="ct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Responses API</a:t>
            </a:r>
            <a:endParaRPr lang="en-US" sz="830" dirty="0"/>
          </a:p>
        </p:txBody>
      </p:sp>
      <p:sp>
        <p:nvSpPr>
          <p:cNvPr id="26" name="Shape 24"/>
          <p:cNvSpPr/>
          <p:nvPr/>
        </p:nvSpPr>
        <p:spPr>
          <a:xfrm>
            <a:off x="530352" y="2980944"/>
            <a:ext cx="232257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016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713232" y="3163824"/>
            <a:ext cx="1956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공공데이터 6종</a:t>
            </a:r>
            <a:endParaRPr lang="en-US" sz="1120" dirty="0"/>
          </a:p>
        </p:txBody>
      </p:sp>
      <p:sp>
        <p:nvSpPr>
          <p:cNvPr id="28" name="Text 26"/>
          <p:cNvSpPr/>
          <p:nvPr/>
        </p:nvSpPr>
        <p:spPr>
          <a:xfrm>
            <a:off x="713232" y="3493008"/>
            <a:ext cx="1956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철도거리 · 시간표 · 최저운임 · 운임률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상하역 시간 · 화물역 하역선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090672" y="2980944"/>
            <a:ext cx="1975104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016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3273552" y="3163824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PostgreSQL 16</a:t>
            </a:r>
            <a:endParaRPr lang="en-US" sz="1120" dirty="0"/>
          </a:p>
        </p:txBody>
      </p:sp>
      <p:sp>
        <p:nvSpPr>
          <p:cNvPr id="31" name="Text 29"/>
          <p:cNvSpPr/>
          <p:nvPr/>
        </p:nvSpPr>
        <p:spPr>
          <a:xfrm>
            <a:off x="3273552" y="3493008"/>
            <a:ext cx="16093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요청 · 제안 · 의사결정</a:t>
            </a:r>
            <a:endParaRPr lang="en-US" sz="830" dirty="0"/>
          </a:p>
          <a:p>
            <a:pPr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거절 사유 · 풀 · 에이전트 이벤트</a:t>
            </a:r>
            <a:endParaRPr lang="en-US" sz="830" dirty="0"/>
          </a:p>
        </p:txBody>
      </p:sp>
      <p:sp>
        <p:nvSpPr>
          <p:cNvPr id="32" name="Shape 30"/>
          <p:cNvSpPr/>
          <p:nvPr/>
        </p:nvSpPr>
        <p:spPr>
          <a:xfrm>
            <a:off x="5303520" y="2980944"/>
            <a:ext cx="3337560" cy="1152144"/>
          </a:xfrm>
          <a:prstGeom prst="roundRect">
            <a:avLst>
              <a:gd name="adj" fmla="val 6349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5504688" y="3154680"/>
            <a:ext cx="20848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화주 에이전트 네트워크</a:t>
            </a:r>
            <a:endParaRPr lang="en-US" sz="1120" dirty="0"/>
          </a:p>
        </p:txBody>
      </p:sp>
      <p:sp>
        <p:nvSpPr>
          <p:cNvPr id="34" name="Shape 32"/>
          <p:cNvSpPr/>
          <p:nvPr/>
        </p:nvSpPr>
        <p:spPr>
          <a:xfrm>
            <a:off x="7507224" y="3118104"/>
            <a:ext cx="932688" cy="274320"/>
          </a:xfrm>
          <a:prstGeom prst="roundRect">
            <a:avLst>
              <a:gd name="adj" fmla="val 26667"/>
            </a:avLst>
          </a:prstGeom>
          <a:solidFill>
            <a:srgbClr val="19436D"/>
          </a:solidFill>
          <a:ln w="12700">
            <a:solidFill>
              <a:srgbClr val="19436D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7580376" y="3127248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39D98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10 / 10 ONLINE</a:t>
            </a:r>
            <a:endParaRPr lang="en-US" sz="840" dirty="0"/>
          </a:p>
        </p:txBody>
      </p:sp>
      <p:sp>
        <p:nvSpPr>
          <p:cNvPr id="36" name="Text 34"/>
          <p:cNvSpPr/>
          <p:nvPr/>
        </p:nvSpPr>
        <p:spPr>
          <a:xfrm>
            <a:off x="5504688" y="3511296"/>
            <a:ext cx="2907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C8D7E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각기 다른 권역·품목·전략으로 요청 발행 → 풀 참여/이탈 → SSE 실시간 갱신</a:t>
            </a:r>
            <a:endParaRPr lang="en-US" sz="860" dirty="0"/>
          </a:p>
        </p:txBody>
      </p:sp>
      <p:sp>
        <p:nvSpPr>
          <p:cNvPr id="37" name="Shape 35"/>
          <p:cNvSpPr/>
          <p:nvPr/>
        </p:nvSpPr>
        <p:spPr>
          <a:xfrm>
            <a:off x="6272784" y="2944368"/>
            <a:ext cx="0" cy="-292608"/>
          </a:xfrm>
          <a:prstGeom prst="line">
            <a:avLst/>
          </a:prstGeom>
          <a:noFill/>
          <a:ln w="15240">
            <a:solidFill>
              <a:srgbClr val="39D98A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4069080" y="2926080"/>
            <a:ext cx="0" cy="-265176"/>
          </a:xfrm>
          <a:prstGeom prst="line">
            <a:avLst/>
          </a:prstGeom>
          <a:noFill/>
          <a:ln w="15240">
            <a:solidFill>
              <a:srgbClr val="D7DFEA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1664208" y="2926080"/>
            <a:ext cx="3493008" cy="0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40" name="Shape 38"/>
          <p:cNvSpPr/>
          <p:nvPr/>
        </p:nvSpPr>
        <p:spPr>
          <a:xfrm>
            <a:off x="530352" y="4297680"/>
            <a:ext cx="704088" cy="228600"/>
          </a:xfrm>
          <a:prstGeom prst="roundRect">
            <a:avLst>
              <a:gd name="adj" fmla="val 32000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603504" y="4306824"/>
            <a:ext cx="55778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신뢰 상태</a:t>
            </a:r>
            <a:endParaRPr lang="en-US" sz="780" dirty="0"/>
          </a:p>
        </p:txBody>
      </p:sp>
      <p:sp>
        <p:nvSpPr>
          <p:cNvPr id="42" name="Text 40"/>
          <p:cNvSpPr/>
          <p:nvPr/>
        </p:nvSpPr>
        <p:spPr>
          <a:xfrm>
            <a:off x="1362456" y="4288536"/>
            <a:ext cx="61264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확인 완료 · 예상값 · 확인 필요  |  결과마다 근거·기준일·검토주체를 함께 남김</a:t>
            </a:r>
            <a:endParaRPr lang="en-US" sz="810" dirty="0"/>
          </a:p>
        </p:txBody>
      </p:sp>
      <p:sp>
        <p:nvSpPr>
          <p:cNvPr id="43" name="Text 41"/>
          <p:cNvSpPr/>
          <p:nvPr/>
        </p:nvSpPr>
        <p:spPr>
          <a:xfrm>
            <a:off x="530352" y="455371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현재 실행 상태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30352" y="4882896"/>
            <a:ext cx="1444752" cy="804672"/>
          </a:xfrm>
          <a:prstGeom prst="roundRect">
            <a:avLst>
              <a:gd name="adj" fmla="val 9091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676656" y="4974336"/>
            <a:ext cx="1152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10 / 10</a:t>
            </a:r>
            <a:endParaRPr lang="en-US" sz="1900" dirty="0"/>
          </a:p>
        </p:txBody>
      </p:sp>
      <p:sp>
        <p:nvSpPr>
          <p:cNvPr id="46" name="Text 44"/>
          <p:cNvSpPr/>
          <p:nvPr/>
        </p:nvSpPr>
        <p:spPr>
          <a:xfrm>
            <a:off x="676656" y="5330952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화주 에이전트</a:t>
            </a:r>
            <a:endParaRPr lang="en-US" sz="870" dirty="0"/>
          </a:p>
        </p:txBody>
      </p:sp>
      <p:sp>
        <p:nvSpPr>
          <p:cNvPr id="47" name="Shape 45"/>
          <p:cNvSpPr/>
          <p:nvPr/>
        </p:nvSpPr>
        <p:spPr>
          <a:xfrm>
            <a:off x="2139696" y="4882896"/>
            <a:ext cx="1444752" cy="804672"/>
          </a:xfrm>
          <a:prstGeom prst="roundRect">
            <a:avLst>
              <a:gd name="adj" fmla="val 9091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2286000" y="4974336"/>
            <a:ext cx="1152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6 / 6</a:t>
            </a:r>
            <a:endParaRPr lang="en-US" sz="1900" dirty="0"/>
          </a:p>
        </p:txBody>
      </p:sp>
      <p:sp>
        <p:nvSpPr>
          <p:cNvPr id="49" name="Text 47"/>
          <p:cNvSpPr/>
          <p:nvPr/>
        </p:nvSpPr>
        <p:spPr>
          <a:xfrm>
            <a:off x="2286000" y="5330952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공공데이터 연결</a:t>
            </a:r>
            <a:endParaRPr lang="en-US" sz="870" dirty="0"/>
          </a:p>
        </p:txBody>
      </p:sp>
      <p:sp>
        <p:nvSpPr>
          <p:cNvPr id="50" name="Shape 48"/>
          <p:cNvSpPr/>
          <p:nvPr/>
        </p:nvSpPr>
        <p:spPr>
          <a:xfrm>
            <a:off x="3749040" y="4882896"/>
            <a:ext cx="1444752" cy="804672"/>
          </a:xfrm>
          <a:prstGeom prst="roundRect">
            <a:avLst>
              <a:gd name="adj" fmla="val 9091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3895344" y="4974336"/>
            <a:ext cx="1152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HEALTHY</a:t>
            </a:r>
            <a:endParaRPr lang="en-US" sz="1900" dirty="0"/>
          </a:p>
        </p:txBody>
      </p:sp>
      <p:sp>
        <p:nvSpPr>
          <p:cNvPr id="52" name="Text 50"/>
          <p:cNvSpPr/>
          <p:nvPr/>
        </p:nvSpPr>
        <p:spPr>
          <a:xfrm>
            <a:off x="3895344" y="5330952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PostgreSQL</a:t>
            </a:r>
            <a:endParaRPr lang="en-US" sz="870" dirty="0"/>
          </a:p>
        </p:txBody>
      </p:sp>
      <p:sp>
        <p:nvSpPr>
          <p:cNvPr id="53" name="Shape 51"/>
          <p:cNvSpPr/>
          <p:nvPr/>
        </p:nvSpPr>
        <p:spPr>
          <a:xfrm>
            <a:off x="5358384" y="4882896"/>
            <a:ext cx="1444752" cy="804672"/>
          </a:xfrm>
          <a:prstGeom prst="roundRect">
            <a:avLst>
              <a:gd name="adj" fmla="val 9091"/>
            </a:avLst>
          </a:prstGeom>
          <a:solidFill>
            <a:srgbClr val="EAF2FF"/>
          </a:solidFill>
          <a:ln w="10160">
            <a:solidFill>
              <a:srgbClr val="EAF2FF"/>
            </a:solidFill>
            <a:prstDash val="solid"/>
          </a:ln>
        </p:spPr>
        <p:txBody>
          <a:bodyPr/>
          <a:p/>
        </p:txBody>
      </p:sp>
      <p:sp>
        <p:nvSpPr>
          <p:cNvPr id="54" name="Text 52"/>
          <p:cNvSpPr/>
          <p:nvPr/>
        </p:nvSpPr>
        <p:spPr>
          <a:xfrm>
            <a:off x="5504688" y="4974336"/>
            <a:ext cx="1152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ENABLED</a:t>
            </a:r>
            <a:endParaRPr lang="en-US" sz="1900" dirty="0"/>
          </a:p>
        </p:txBody>
      </p:sp>
      <p:sp>
        <p:nvSpPr>
          <p:cNvPr id="55" name="Text 53"/>
          <p:cNvSpPr/>
          <p:nvPr/>
        </p:nvSpPr>
        <p:spPr>
          <a:xfrm>
            <a:off x="5504688" y="5330952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AI 추출</a:t>
            </a:r>
            <a:endParaRPr lang="en-US" sz="870" dirty="0"/>
          </a:p>
        </p:txBody>
      </p:sp>
      <p:sp>
        <p:nvSpPr>
          <p:cNvPr id="56" name="Shape 54"/>
          <p:cNvSpPr/>
          <p:nvPr/>
        </p:nvSpPr>
        <p:spPr>
          <a:xfrm>
            <a:off x="6967728" y="4882896"/>
            <a:ext cx="1673352" cy="804672"/>
          </a:xfrm>
          <a:prstGeom prst="roundRect">
            <a:avLst>
              <a:gd name="adj" fmla="val 9091"/>
            </a:avLst>
          </a:prstGeom>
          <a:solidFill>
            <a:srgbClr val="EAF2FF"/>
          </a:solidFill>
          <a:ln w="10160">
            <a:solidFill>
              <a:srgbClr val="EAF2FF"/>
            </a:solidFill>
            <a:prstDash val="solid"/>
          </a:ln>
        </p:spPr>
        <p:txBody>
          <a:bodyPr/>
          <a:p/>
        </p:txBody>
      </p:sp>
      <p:sp>
        <p:nvSpPr>
          <p:cNvPr id="57" name="Text 55"/>
          <p:cNvSpPr/>
          <p:nvPr/>
        </p:nvSpPr>
        <p:spPr>
          <a:xfrm>
            <a:off x="7114032" y="4974336"/>
            <a:ext cx="1380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HTTP 200</a:t>
            </a:r>
            <a:endParaRPr lang="en-US" sz="1900" dirty="0"/>
          </a:p>
        </p:txBody>
      </p:sp>
      <p:sp>
        <p:nvSpPr>
          <p:cNvPr id="58" name="Text 56"/>
          <p:cNvSpPr/>
          <p:nvPr/>
        </p:nvSpPr>
        <p:spPr>
          <a:xfrm>
            <a:off x="7114032" y="5330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로컬·공개 경로</a:t>
            </a:r>
            <a:endParaRPr lang="en-US" sz="870" dirty="0"/>
          </a:p>
        </p:txBody>
      </p:sp>
      <p:sp>
        <p:nvSpPr>
          <p:cNvPr id="59" name="Text 57"/>
          <p:cNvSpPr/>
          <p:nvPr/>
        </p:nvSpPr>
        <p:spPr>
          <a:xfrm>
            <a:off x="475488" y="6254496"/>
            <a:ext cx="7726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i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검증 시점: 2026.08.13 · 현재 로컬 런타임 및 공개 HTTPS 경로 기준</a:t>
            </a:r>
            <a:endParaRPr lang="en-US" sz="720" dirty="0"/>
          </a:p>
        </p:txBody>
      </p:sp>
      <p:sp>
        <p:nvSpPr>
          <p:cNvPr id="60" name="Shape 58"/>
          <p:cNvSpPr/>
          <p:nvPr/>
        </p:nvSpPr>
        <p:spPr>
          <a:xfrm>
            <a:off x="475488" y="6437376"/>
            <a:ext cx="8193024" cy="0"/>
          </a:xfrm>
          <a:prstGeom prst="line">
            <a:avLst/>
          </a:prstGeom>
          <a:noFill/>
          <a:ln w="889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475488" y="6492240"/>
            <a:ext cx="3886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MOVE AI CHALLENGE 2026 · 레일 물류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8229600" y="649224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04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347472"/>
            <a:ext cx="502920" cy="274320"/>
          </a:xfrm>
          <a:prstGeom prst="roundRect">
            <a:avLst>
              <a:gd name="adj" fmla="val 2666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356616"/>
            <a:ext cx="35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33856" y="274320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서비스 화면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43000" y="740664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최소 입력 → 검토 범위 선택 → 근거가 보이는 역제안까지 한 손 흐름으로 설계했습니다.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75488" y="1078992"/>
            <a:ext cx="8193024" cy="0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4652" y="1303020"/>
            <a:ext cx="1700784" cy="3563581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3970">
            <a:solidFill>
              <a:srgbClr val="D7DFEA"/>
            </a:solidFill>
            <a:prstDash val="solid"/>
          </a:ln>
          <a:effectLst>
            <a:outerShdw sx="100000" sy="100000" kx="0" ky="0" algn="bl" rotWithShape="0" blurRad="1.0657517203310059e+29" dist="2.1315034406620118e+29" dir="1.259712e+35">
              <a:srgbClr val="0B1F3A">
                <a:alpha val="1.3e+34"/>
              </a:srgbClr>
            </a:outerShdw>
          </a:effectLst>
        </p:spPr>
        <p:txBody>
          <a:bodyPr/>
          <a:p/>
        </p:txBody>
      </p:sp>
      <p:pic>
        <p:nvPicPr>
          <p:cNvPr id="8" name="Image 0" descr="/Users/tory/Desktop/기획/최종결과보고서_산출물/제품_캡처/01-korail-ent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1353312"/>
            <a:ext cx="1600200" cy="3462997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29768" y="5010912"/>
            <a:ext cx="384048" cy="274320"/>
          </a:xfrm>
          <a:prstGeom prst="roundRect">
            <a:avLst>
              <a:gd name="adj" fmla="val 2666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5020056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01</a:t>
            </a:r>
            <a:endParaRPr lang="en-US" sz="840" dirty="0"/>
          </a:p>
        </p:txBody>
      </p:sp>
      <p:sp>
        <p:nvSpPr>
          <p:cNvPr id="11" name="Text 8"/>
          <p:cNvSpPr/>
          <p:nvPr/>
        </p:nvSpPr>
        <p:spPr>
          <a:xfrm>
            <a:off x="886968" y="5001768"/>
            <a:ext cx="1435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코레일+ 진입</a:t>
            </a:r>
            <a:endParaRPr lang="en-US" sz="1020" dirty="0"/>
          </a:p>
        </p:txBody>
      </p:sp>
      <p:sp>
        <p:nvSpPr>
          <p:cNvPr id="12" name="Text 9"/>
          <p:cNvSpPr/>
          <p:nvPr/>
        </p:nvSpPr>
        <p:spPr>
          <a:xfrm>
            <a:off x="429768" y="5358384"/>
            <a:ext cx="1938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새 앱 설치 없이 이동·편의에서 시작</a:t>
            </a:r>
            <a:endParaRPr lang="en-US" sz="820" dirty="0"/>
          </a:p>
        </p:txBody>
      </p:sp>
      <p:sp>
        <p:nvSpPr>
          <p:cNvPr id="13" name="Shape 10"/>
          <p:cNvSpPr/>
          <p:nvPr/>
        </p:nvSpPr>
        <p:spPr>
          <a:xfrm>
            <a:off x="2386584" y="3072384"/>
            <a:ext cx="164592" cy="0"/>
          </a:xfrm>
          <a:prstGeom prst="line">
            <a:avLst/>
          </a:prstGeom>
          <a:noFill/>
          <a:ln w="17780">
            <a:solidFill>
              <a:srgbClr val="1769FF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4" name="Shape 11"/>
          <p:cNvSpPr/>
          <p:nvPr/>
        </p:nvSpPr>
        <p:spPr>
          <a:xfrm>
            <a:off x="2811780" y="1303020"/>
            <a:ext cx="1700784" cy="3563581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3970">
            <a:solidFill>
              <a:srgbClr val="D7DFEA"/>
            </a:solidFill>
            <a:prstDash val="solid"/>
          </a:ln>
          <a:effectLst>
            <a:outerShdw sx="100000" sy="100000" kx="0" ky="0" algn="bl" rotWithShape="0" blurRad="1.3535046848203775e+33" dist="2.707009369640755e+33" dir="7.558272e+39">
              <a:srgbClr val="0B1F3A">
                <a:alpha val="1.3e+39"/>
              </a:srgbClr>
            </a:outerShdw>
          </a:effectLst>
        </p:spPr>
        <p:txBody>
          <a:bodyPr/>
          <a:p/>
        </p:txBody>
      </p:sp>
      <p:pic>
        <p:nvPicPr>
          <p:cNvPr id="15" name="Image 1" descr="/Users/tory/Desktop/기획/최종결과보고서_산출물/제품_캡처/06-email-extrac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72" y="1353312"/>
            <a:ext cx="1600200" cy="3462997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2596896" y="5010912"/>
            <a:ext cx="384048" cy="274320"/>
          </a:xfrm>
          <a:prstGeom prst="roundRect">
            <a:avLst>
              <a:gd name="adj" fmla="val 2666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2670048" y="5020056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02</a:t>
            </a:r>
            <a:endParaRPr lang="en-US" sz="840" dirty="0"/>
          </a:p>
        </p:txBody>
      </p:sp>
      <p:sp>
        <p:nvSpPr>
          <p:cNvPr id="18" name="Text 14"/>
          <p:cNvSpPr/>
          <p:nvPr/>
        </p:nvSpPr>
        <p:spPr>
          <a:xfrm>
            <a:off x="3054096" y="5001768"/>
            <a:ext cx="1435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메일 자동 인식</a:t>
            </a:r>
            <a:endParaRPr lang="en-US" sz="1020" dirty="0"/>
          </a:p>
        </p:txBody>
      </p:sp>
      <p:sp>
        <p:nvSpPr>
          <p:cNvPr id="19" name="Text 15"/>
          <p:cNvSpPr/>
          <p:nvPr/>
        </p:nvSpPr>
        <p:spPr>
          <a:xfrm>
            <a:off x="2596896" y="5358384"/>
            <a:ext cx="1938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원문 근거와 누락값을 함께 확인</a:t>
            </a:r>
            <a:endParaRPr lang="en-US" sz="820" dirty="0"/>
          </a:p>
        </p:txBody>
      </p:sp>
      <p:sp>
        <p:nvSpPr>
          <p:cNvPr id="20" name="Shape 16"/>
          <p:cNvSpPr/>
          <p:nvPr/>
        </p:nvSpPr>
        <p:spPr>
          <a:xfrm>
            <a:off x="4553712" y="3072384"/>
            <a:ext cx="164592" cy="0"/>
          </a:xfrm>
          <a:prstGeom prst="line">
            <a:avLst/>
          </a:prstGeom>
          <a:noFill/>
          <a:ln w="17780">
            <a:solidFill>
              <a:srgbClr val="1769FF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1" name="Shape 17"/>
          <p:cNvSpPr/>
          <p:nvPr/>
        </p:nvSpPr>
        <p:spPr>
          <a:xfrm>
            <a:off x="4978908" y="1303020"/>
            <a:ext cx="1700784" cy="3563581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3970">
            <a:solidFill>
              <a:srgbClr val="D7DFEA"/>
            </a:solidFill>
            <a:prstDash val="solid"/>
          </a:ln>
          <a:effectLst>
            <a:outerShdw sx="100000" sy="100000" kx="0" ky="0" algn="bl" rotWithShape="0" blurRad="1.7189509497218795e+37" dist="3.437901899443759e+37" dir="4.5349632000000006e+44">
              <a:srgbClr val="0B1F3A">
                <a:alpha val="1.3e+44"/>
              </a:srgbClr>
            </a:outerShdw>
          </a:effectLst>
        </p:spPr>
        <p:txBody>
          <a:bodyPr/>
          <a:p/>
        </p:txBody>
      </p:sp>
      <p:pic>
        <p:nvPicPr>
          <p:cNvPr id="22" name="Image 2" descr="/Users/tory/Desktop/기획/최종결과보고서_산출물/제품_캡처/07-adjustment-ax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353312"/>
            <a:ext cx="1600200" cy="3462997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4764024" y="5010912"/>
            <a:ext cx="384048" cy="274320"/>
          </a:xfrm>
          <a:prstGeom prst="roundRect">
            <a:avLst>
              <a:gd name="adj" fmla="val 2666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  <p:txBody>
          <a:bodyPr/>
          <a:p/>
        </p:txBody>
      </p:sp>
      <p:sp>
        <p:nvSpPr>
          <p:cNvPr id="24" name="Text 19"/>
          <p:cNvSpPr/>
          <p:nvPr/>
        </p:nvSpPr>
        <p:spPr>
          <a:xfrm>
            <a:off x="4837176" y="5020056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03</a:t>
            </a:r>
            <a:endParaRPr lang="en-US" sz="840" dirty="0"/>
          </a:p>
        </p:txBody>
      </p:sp>
      <p:sp>
        <p:nvSpPr>
          <p:cNvPr id="25" name="Text 20"/>
          <p:cNvSpPr/>
          <p:nvPr/>
        </p:nvSpPr>
        <p:spPr>
          <a:xfrm>
            <a:off x="5221224" y="5001768"/>
            <a:ext cx="1435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7개 조정 축</a:t>
            </a:r>
            <a:endParaRPr lang="en-US" sz="1020" dirty="0"/>
          </a:p>
        </p:txBody>
      </p:sp>
      <p:sp>
        <p:nvSpPr>
          <p:cNvPr id="26" name="Text 21"/>
          <p:cNvSpPr/>
          <p:nvPr/>
        </p:nvSpPr>
        <p:spPr>
          <a:xfrm>
            <a:off x="4764024" y="5358384"/>
            <a:ext cx="1938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출발일·마감·역·분할 범위를 선택</a:t>
            </a:r>
            <a:endParaRPr lang="en-US" sz="820" dirty="0"/>
          </a:p>
        </p:txBody>
      </p:sp>
      <p:sp>
        <p:nvSpPr>
          <p:cNvPr id="27" name="Shape 22"/>
          <p:cNvSpPr/>
          <p:nvPr/>
        </p:nvSpPr>
        <p:spPr>
          <a:xfrm>
            <a:off x="6720840" y="3072384"/>
            <a:ext cx="164592" cy="0"/>
          </a:xfrm>
          <a:prstGeom prst="line">
            <a:avLst/>
          </a:prstGeom>
          <a:noFill/>
          <a:ln w="17780">
            <a:solidFill>
              <a:srgbClr val="1769FF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8" name="Shape 23"/>
          <p:cNvSpPr/>
          <p:nvPr/>
        </p:nvSpPr>
        <p:spPr>
          <a:xfrm>
            <a:off x="7146036" y="1303020"/>
            <a:ext cx="1700784" cy="3563581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3970">
            <a:solidFill>
              <a:srgbClr val="1769FF"/>
            </a:solidFill>
            <a:prstDash val="solid"/>
          </a:ln>
          <a:effectLst>
            <a:outerShdw sx="100000" sy="100000" kx="0" ky="0" algn="bl" rotWithShape="0" blurRad="2.183067706146787e+41" dist="4.366135412293574e+41" dir="2.72097792e+49">
              <a:srgbClr val="0B1F3A">
                <a:alpha val="1.3e+49"/>
              </a:srgbClr>
            </a:outerShdw>
          </a:effectLst>
        </p:spPr>
        <p:txBody>
          <a:bodyPr/>
          <a:p/>
        </p:txBody>
      </p:sp>
      <p:pic>
        <p:nvPicPr>
          <p:cNvPr id="29" name="Image 3" descr="/Users/tory/Desktop/기획/최종결과보고서_산출물/제품_캡처/03-ai-counterpropos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6328" y="1353312"/>
            <a:ext cx="1600200" cy="3462997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931152" y="5010912"/>
            <a:ext cx="384048" cy="274320"/>
          </a:xfrm>
          <a:prstGeom prst="roundRect">
            <a:avLst>
              <a:gd name="adj" fmla="val 26667"/>
            </a:avLst>
          </a:prstGeom>
          <a:solidFill>
            <a:srgbClr val="1769FF"/>
          </a:solidFill>
          <a:ln w="12700">
            <a:solidFill>
              <a:srgbClr val="1769FF"/>
            </a:solidFill>
            <a:prstDash val="solid"/>
          </a:ln>
        </p:spPr>
        <p:txBody>
          <a:bodyPr/>
          <a:p/>
        </p:txBody>
      </p:sp>
      <p:sp>
        <p:nvSpPr>
          <p:cNvPr id="31" name="Text 25"/>
          <p:cNvSpPr/>
          <p:nvPr/>
        </p:nvSpPr>
        <p:spPr>
          <a:xfrm>
            <a:off x="7004304" y="5020056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04</a:t>
            </a:r>
            <a:endParaRPr lang="en-US" sz="840" dirty="0"/>
          </a:p>
        </p:txBody>
      </p:sp>
      <p:sp>
        <p:nvSpPr>
          <p:cNvPr id="32" name="Text 26"/>
          <p:cNvSpPr/>
          <p:nvPr/>
        </p:nvSpPr>
        <p:spPr>
          <a:xfrm>
            <a:off x="7388352" y="5001768"/>
            <a:ext cx="1435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AI 역제안</a:t>
            </a:r>
            <a:endParaRPr lang="en-US" sz="1020" dirty="0"/>
          </a:p>
        </p:txBody>
      </p:sp>
      <p:sp>
        <p:nvSpPr>
          <p:cNvPr id="33" name="Text 27"/>
          <p:cNvSpPr/>
          <p:nvPr/>
        </p:nvSpPr>
        <p:spPr>
          <a:xfrm>
            <a:off x="6931152" y="5358384"/>
            <a:ext cx="1938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절감과 불편을 같은 크기로 표시</a:t>
            </a:r>
            <a:endParaRPr lang="en-US" sz="820" dirty="0"/>
          </a:p>
        </p:txBody>
      </p:sp>
      <p:sp>
        <p:nvSpPr>
          <p:cNvPr id="34" name="Shape 28"/>
          <p:cNvSpPr/>
          <p:nvPr/>
        </p:nvSpPr>
        <p:spPr>
          <a:xfrm>
            <a:off x="502920" y="5815584"/>
            <a:ext cx="8138160" cy="384048"/>
          </a:xfrm>
          <a:prstGeom prst="roundRect">
            <a:avLst>
              <a:gd name="adj" fmla="val 19048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35" name="Text 29"/>
          <p:cNvSpPr/>
          <p:nvPr/>
        </p:nvSpPr>
        <p:spPr>
          <a:xfrm>
            <a:off x="694944" y="5907024"/>
            <a:ext cx="77541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UX 원칙  |  한 화면에 한 결정 · 하단 고정 CTA · 입력은 선택형 우선 · 계산 근거는 필요할 때 펼쳐보기</a:t>
            </a:r>
            <a:endParaRPr lang="en-US" sz="920" dirty="0"/>
          </a:p>
        </p:txBody>
      </p:sp>
      <p:sp>
        <p:nvSpPr>
          <p:cNvPr id="36" name="Shape 30"/>
          <p:cNvSpPr/>
          <p:nvPr/>
        </p:nvSpPr>
        <p:spPr>
          <a:xfrm>
            <a:off x="475488" y="6437376"/>
            <a:ext cx="8193024" cy="0"/>
          </a:xfrm>
          <a:prstGeom prst="line">
            <a:avLst/>
          </a:prstGeom>
          <a:noFill/>
          <a:ln w="889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37" name="Text 31"/>
          <p:cNvSpPr/>
          <p:nvPr/>
        </p:nvSpPr>
        <p:spPr>
          <a:xfrm>
            <a:off x="475488" y="6492240"/>
            <a:ext cx="3886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MOVE AI CHALLENGE 2026 · 레일 물류</a:t>
            </a:r>
            <a:endParaRPr lang="en-US" sz="750" dirty="0"/>
          </a:p>
        </p:txBody>
      </p:sp>
      <p:sp>
        <p:nvSpPr>
          <p:cNvPr id="38" name="Text 32"/>
          <p:cNvSpPr/>
          <p:nvPr/>
        </p:nvSpPr>
        <p:spPr>
          <a:xfrm>
            <a:off x="8229600" y="649224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05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347472"/>
            <a:ext cx="502920" cy="274320"/>
          </a:xfrm>
          <a:prstGeom prst="roundRect">
            <a:avLst>
              <a:gd name="adj" fmla="val 2666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356616"/>
            <a:ext cx="35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33856" y="274320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서비스 화면 2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43000" y="740664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비교·모집·검토 요청까지 사용자가 직접 결정하며, 시스템은 상태 변화만 실시간으로 알려줍니다.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75488" y="1078992"/>
            <a:ext cx="8193024" cy="0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854964" y="1248156"/>
            <a:ext cx="2057400" cy="4335335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3970">
            <a:solidFill>
              <a:srgbClr val="D7DFEA"/>
            </a:solidFill>
            <a:prstDash val="solid"/>
          </a:ln>
          <a:effectLst>
            <a:outerShdw sx="100000" sy="100000" kx="0" ky="0" algn="bl" rotWithShape="0" blurRad="2.7724959868064195e+45" dist="5.544991973612839e+45" dir="1.6325867520000003e+54">
              <a:srgbClr val="0B1F3A">
                <a:alpha val="1.2999999999999999e+54"/>
              </a:srgbClr>
            </a:outerShdw>
          </a:effectLst>
        </p:spPr>
        <p:txBody>
          <a:bodyPr/>
          <a:p/>
        </p:txBody>
      </p:sp>
      <p:pic>
        <p:nvPicPr>
          <p:cNvPr id="8" name="Image 0" descr="/Users/tory/Desktop/기획/최종결과보고서_산출물/제품_캡처/08-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" y="1298448"/>
            <a:ext cx="1956816" cy="4234751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76072" y="5559552"/>
            <a:ext cx="384048" cy="274320"/>
          </a:xfrm>
          <a:prstGeom prst="roundRect">
            <a:avLst>
              <a:gd name="adj" fmla="val 2666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649224" y="5568696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05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33272" y="5522976"/>
            <a:ext cx="2066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같은 기준으로 비교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576072" y="5815584"/>
            <a:ext cx="2615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도로 D2D와 철도 D2D를 비용·시간·탄소로 나란히 비교</a:t>
            </a:r>
            <a:endParaRPr lang="en-US" sz="810" dirty="0"/>
          </a:p>
        </p:txBody>
      </p:sp>
      <p:sp>
        <p:nvSpPr>
          <p:cNvPr id="13" name="Shape 10"/>
          <p:cNvSpPr/>
          <p:nvPr/>
        </p:nvSpPr>
        <p:spPr>
          <a:xfrm>
            <a:off x="3191256" y="3337560"/>
            <a:ext cx="164592" cy="0"/>
          </a:xfrm>
          <a:prstGeom prst="line">
            <a:avLst/>
          </a:prstGeom>
          <a:noFill/>
          <a:ln w="19050">
            <a:solidFill>
              <a:srgbClr val="39D98A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4" name="Shape 11"/>
          <p:cNvSpPr/>
          <p:nvPr/>
        </p:nvSpPr>
        <p:spPr>
          <a:xfrm>
            <a:off x="3653028" y="1248156"/>
            <a:ext cx="2057400" cy="4335335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3970">
            <a:solidFill>
              <a:srgbClr val="39D98A"/>
            </a:solidFill>
            <a:prstDash val="solid"/>
          </a:ln>
          <a:effectLst>
            <a:outerShdw sx="100000" sy="100000" kx="0" ky="0" algn="bl" rotWithShape="0" blurRad="3.5210699032441527e+49" dist="7.042139806488305e+49" dir="9.795520512000002e+58">
              <a:srgbClr val="0B1F3A">
                <a:alpha val="1.2999999999999998e+59"/>
              </a:srgbClr>
            </a:outerShdw>
          </a:effectLst>
        </p:spPr>
        <p:txBody>
          <a:bodyPr/>
          <a:p/>
        </p:txBody>
      </p:sp>
      <p:pic>
        <p:nvPicPr>
          <p:cNvPr id="15" name="Image 1" descr="/Users/tory/Desktop/기획/최종결과보고서_산출물/제품_캡처/04-pool-target-reach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3320" y="1298448"/>
            <a:ext cx="1956816" cy="4234751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3374136" y="5559552"/>
            <a:ext cx="384048" cy="274320"/>
          </a:xfrm>
          <a:prstGeom prst="roundRect">
            <a:avLst>
              <a:gd name="adj" fmla="val 26667"/>
            </a:avLst>
          </a:prstGeom>
          <a:solidFill>
            <a:srgbClr val="0A7C50"/>
          </a:solidFill>
          <a:ln w="12700">
            <a:solidFill>
              <a:srgbClr val="0A7C50"/>
            </a:solidFill>
            <a:prstDash val="solid"/>
          </a:ln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3447288" y="5568696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06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3831336" y="5522976"/>
            <a:ext cx="2066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함께 보내기 달성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3374136" y="5815584"/>
            <a:ext cx="2615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15→18TEU가 되면 양쪽 1TEU당 단가가 함께 하락</a:t>
            </a:r>
            <a:endParaRPr lang="en-US" sz="810" dirty="0"/>
          </a:p>
        </p:txBody>
      </p:sp>
      <p:sp>
        <p:nvSpPr>
          <p:cNvPr id="20" name="Shape 16"/>
          <p:cNvSpPr/>
          <p:nvPr/>
        </p:nvSpPr>
        <p:spPr>
          <a:xfrm>
            <a:off x="5989320" y="3337560"/>
            <a:ext cx="164592" cy="0"/>
          </a:xfrm>
          <a:prstGeom prst="line">
            <a:avLst/>
          </a:prstGeom>
          <a:noFill/>
          <a:ln w="19050">
            <a:solidFill>
              <a:srgbClr val="1769FF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1" name="Shape 17"/>
          <p:cNvSpPr/>
          <p:nvPr/>
        </p:nvSpPr>
        <p:spPr>
          <a:xfrm>
            <a:off x="6451092" y="1248156"/>
            <a:ext cx="2057400" cy="4335335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3970">
            <a:solidFill>
              <a:srgbClr val="D7DFEA"/>
            </a:solidFill>
            <a:prstDash val="solid"/>
          </a:ln>
          <a:effectLst>
            <a:outerShdw sx="100000" sy="100000" kx="0" ky="0" algn="bl" rotWithShape="0" blurRad="4.471758777120074e+53" dist="8.943517554240149e+53" dir="5.877312307200001e+63">
              <a:srgbClr val="0B1F3A">
                <a:alpha val="1.2999999999999998e+64"/>
              </a:srgbClr>
            </a:outerShdw>
          </a:effectLst>
        </p:spPr>
        <p:txBody>
          <a:bodyPr/>
          <a:p/>
        </p:txBody>
      </p:sp>
      <p:pic>
        <p:nvPicPr>
          <p:cNvPr id="22" name="Image 2" descr="/Users/tory/Desktop/기획/최종결과보고서_산출물/제품_캡처/05-review-submitt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1384" y="1298448"/>
            <a:ext cx="1956816" cy="4234751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6172200" y="5559552"/>
            <a:ext cx="384048" cy="274320"/>
          </a:xfrm>
          <a:prstGeom prst="roundRect">
            <a:avLst>
              <a:gd name="adj" fmla="val 2666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  <p:txBody>
          <a:bodyPr/>
          <a:p/>
        </p:txBody>
      </p:sp>
      <p:sp>
        <p:nvSpPr>
          <p:cNvPr id="24" name="Text 19"/>
          <p:cNvSpPr/>
          <p:nvPr/>
        </p:nvSpPr>
        <p:spPr>
          <a:xfrm>
            <a:off x="6245352" y="5568696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07</a:t>
            </a:r>
            <a:endParaRPr lang="en-US" sz="850" dirty="0"/>
          </a:p>
        </p:txBody>
      </p:sp>
      <p:sp>
        <p:nvSpPr>
          <p:cNvPr id="25" name="Text 20"/>
          <p:cNvSpPr/>
          <p:nvPr/>
        </p:nvSpPr>
        <p:spPr>
          <a:xfrm>
            <a:off x="6629400" y="5522976"/>
            <a:ext cx="2066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코레일 검토 요청</a:t>
            </a:r>
            <a:endParaRPr lang="en-US" sz="1050" dirty="0"/>
          </a:p>
        </p:txBody>
      </p:sp>
      <p:sp>
        <p:nvSpPr>
          <p:cNvPr id="26" name="Text 21"/>
          <p:cNvSpPr/>
          <p:nvPr/>
        </p:nvSpPr>
        <p:spPr>
          <a:xfrm>
            <a:off x="6172200" y="5815584"/>
            <a:ext cx="2615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1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예약이 아니라 담당자의 운임·적재 가능 여부 확인으로 마무리</a:t>
            </a:r>
            <a:endParaRPr lang="en-US" sz="810" dirty="0"/>
          </a:p>
        </p:txBody>
      </p:sp>
      <p:sp>
        <p:nvSpPr>
          <p:cNvPr id="27" name="Shape 22"/>
          <p:cNvSpPr/>
          <p:nvPr/>
        </p:nvSpPr>
        <p:spPr>
          <a:xfrm>
            <a:off x="7525512" y="1179576"/>
            <a:ext cx="960120" cy="274320"/>
          </a:xfrm>
          <a:prstGeom prst="roundRect">
            <a:avLst>
              <a:gd name="adj" fmla="val 26667"/>
            </a:avLst>
          </a:prstGeom>
          <a:solidFill>
            <a:srgbClr val="E8F8F1"/>
          </a:solidFill>
          <a:ln w="12700">
            <a:solidFill>
              <a:srgbClr val="E8F8F1"/>
            </a:solidFill>
            <a:prstDash val="solid"/>
          </a:ln>
        </p:spPr>
        <p:txBody>
          <a:bodyPr/>
          <a:p/>
        </p:txBody>
      </p:sp>
      <p:sp>
        <p:nvSpPr>
          <p:cNvPr id="28" name="Text 23"/>
          <p:cNvSpPr/>
          <p:nvPr/>
        </p:nvSpPr>
        <p:spPr>
          <a:xfrm>
            <a:off x="7598664" y="118872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SSE LIVE</a:t>
            </a:r>
            <a:endParaRPr lang="en-US" sz="830" dirty="0"/>
          </a:p>
        </p:txBody>
      </p:sp>
      <p:sp>
        <p:nvSpPr>
          <p:cNvPr id="29" name="Text 24"/>
          <p:cNvSpPr/>
          <p:nvPr/>
        </p:nvSpPr>
        <p:spPr>
          <a:xfrm>
            <a:off x="475488" y="6254496"/>
            <a:ext cx="7726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i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화면 속 회사·물량·비용은 해커톤 시연용 가상 데이터이며, 실제 운임과 적재 가능 여부는 확정하지 않습니다.</a:t>
            </a:r>
            <a:endParaRPr lang="en-US" sz="720" dirty="0"/>
          </a:p>
        </p:txBody>
      </p:sp>
      <p:sp>
        <p:nvSpPr>
          <p:cNvPr id="30" name="Shape 25"/>
          <p:cNvSpPr/>
          <p:nvPr/>
        </p:nvSpPr>
        <p:spPr>
          <a:xfrm>
            <a:off x="475488" y="6437376"/>
            <a:ext cx="8193024" cy="0"/>
          </a:xfrm>
          <a:prstGeom prst="line">
            <a:avLst/>
          </a:prstGeom>
          <a:noFill/>
          <a:ln w="889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31" name="Text 26"/>
          <p:cNvSpPr/>
          <p:nvPr/>
        </p:nvSpPr>
        <p:spPr>
          <a:xfrm>
            <a:off x="475488" y="6492240"/>
            <a:ext cx="3886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MOVE AI CHALLENGE 2026 · 레일 물류</a:t>
            </a:r>
            <a:endParaRPr lang="en-US" sz="750" dirty="0"/>
          </a:p>
        </p:txBody>
      </p:sp>
      <p:sp>
        <p:nvSpPr>
          <p:cNvPr id="32" name="Text 27"/>
          <p:cNvSpPr/>
          <p:nvPr/>
        </p:nvSpPr>
        <p:spPr>
          <a:xfrm>
            <a:off x="8229600" y="649224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06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347472"/>
            <a:ext cx="502920" cy="274320"/>
          </a:xfrm>
          <a:prstGeom prst="roundRect">
            <a:avLst>
              <a:gd name="adj" fmla="val 2666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356616"/>
            <a:ext cx="35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33856" y="274320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주요 기능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43000" y="740664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입력 → 판정 → 최소 변경 → 사람 승인 → 사유 학습으로 전환의 전 과정을 연결합니다.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75488" y="1078992"/>
            <a:ext cx="8193024" cy="0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02920" y="1298448"/>
            <a:ext cx="8138160" cy="438912"/>
          </a:xfrm>
          <a:prstGeom prst="roundRect">
            <a:avLst>
              <a:gd name="adj" fmla="val 16667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30936" y="1408176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기능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596896" y="1408176"/>
            <a:ext cx="36301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구현 방식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620256" y="1408176"/>
            <a:ext cx="18928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사용자 가치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02920" y="1792224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762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" y="1901952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4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01  증거 기반 자동 인식</a:t>
            </a:r>
            <a:endParaRPr lang="en-US" sz="940" dirty="0"/>
          </a:p>
        </p:txBody>
      </p:sp>
      <p:sp>
        <p:nvSpPr>
          <p:cNvPr id="13" name="Text 11"/>
          <p:cNvSpPr/>
          <p:nvPr/>
        </p:nvSpPr>
        <p:spPr>
          <a:xfrm>
            <a:off x="2596896" y="1883664"/>
            <a:ext cx="36301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메일에서 6개 필수값을 추출하고 원문 근거·누락·확인 필요 상태를 함께 표시</a:t>
            </a:r>
            <a:endParaRPr lang="en-US" sz="810" dirty="0"/>
          </a:p>
        </p:txBody>
      </p:sp>
      <p:sp>
        <p:nvSpPr>
          <p:cNvPr id="14" name="Text 12"/>
          <p:cNvSpPr/>
          <p:nvPr/>
        </p:nvSpPr>
        <p:spPr>
          <a:xfrm>
            <a:off x="6620256" y="1883664"/>
            <a:ext cx="18928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재입력은 줄이고</a:t>
            </a:r>
            <a:endParaRPr lang="en-US" sz="840" dirty="0"/>
          </a:p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오인식은 바로 고침</a:t>
            </a:r>
            <a:endParaRPr lang="en-US" sz="840" dirty="0"/>
          </a:p>
        </p:txBody>
      </p:sp>
      <p:sp>
        <p:nvSpPr>
          <p:cNvPr id="15" name="Shape 13"/>
          <p:cNvSpPr/>
          <p:nvPr/>
        </p:nvSpPr>
        <p:spPr>
          <a:xfrm>
            <a:off x="502920" y="262432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762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30936" y="2734056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4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02  3단계 판정·최소변경</a:t>
            </a:r>
            <a:endParaRPr lang="en-US" sz="940" dirty="0"/>
          </a:p>
        </p:txBody>
      </p:sp>
      <p:sp>
        <p:nvSpPr>
          <p:cNvPr id="17" name="Text 15"/>
          <p:cNvSpPr/>
          <p:nvPr/>
        </p:nvSpPr>
        <p:spPr>
          <a:xfrm>
            <a:off x="2596896" y="2715768"/>
            <a:ext cx="36301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바로 검토/조건부 전환/이번엔 유지로 분기하고, 7개 축에서 변경이 적은 안 2개와 재검토 시점을 제시</a:t>
            </a:r>
            <a:endParaRPr lang="en-US" sz="810" dirty="0"/>
          </a:p>
        </p:txBody>
      </p:sp>
      <p:sp>
        <p:nvSpPr>
          <p:cNvPr id="18" name="Text 16"/>
          <p:cNvSpPr/>
          <p:nvPr/>
        </p:nvSpPr>
        <p:spPr>
          <a:xfrm>
            <a:off x="6620256" y="2715768"/>
            <a:ext cx="18928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“안 됨” 대신</a:t>
            </a:r>
            <a:endParaRPr lang="en-US" sz="840" dirty="0"/>
          </a:p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바꿀 조건을 앎</a:t>
            </a:r>
            <a:endParaRPr lang="en-US" sz="840" dirty="0"/>
          </a:p>
        </p:txBody>
      </p:sp>
      <p:sp>
        <p:nvSpPr>
          <p:cNvPr id="19" name="Shape 17"/>
          <p:cNvSpPr/>
          <p:nvPr/>
        </p:nvSpPr>
        <p:spPr>
          <a:xfrm>
            <a:off x="502920" y="3456432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762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30936" y="356616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4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03  익명 풀·실시간 네트워크</a:t>
            </a:r>
            <a:endParaRPr lang="en-US" sz="940" dirty="0"/>
          </a:p>
        </p:txBody>
      </p:sp>
      <p:sp>
        <p:nvSpPr>
          <p:cNvPr id="21" name="Text 19"/>
          <p:cNvSpPr/>
          <p:nvPr/>
        </p:nvSpPr>
        <p:spPr>
          <a:xfrm>
            <a:off x="2596896" y="3547872"/>
            <a:ext cx="36301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10개 화주 에이전트가 요청·참여·이탈을 수행하고 SSE로 15↔18TEU 상태를 갱신</a:t>
            </a:r>
            <a:endParaRPr lang="en-US" sz="810" dirty="0"/>
          </a:p>
        </p:txBody>
      </p:sp>
      <p:sp>
        <p:nvSpPr>
          <p:cNvPr id="22" name="Text 20"/>
          <p:cNvSpPr/>
          <p:nvPr/>
        </p:nvSpPr>
        <p:spPr>
          <a:xfrm>
            <a:off x="6620256" y="3547872"/>
            <a:ext cx="18928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화물이 모이는</a:t>
            </a:r>
            <a:endParaRPr lang="en-US" sz="840" dirty="0"/>
          </a:p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과정을 직접 확인</a:t>
            </a:r>
            <a:endParaRPr lang="en-US" sz="840" dirty="0"/>
          </a:p>
        </p:txBody>
      </p:sp>
      <p:sp>
        <p:nvSpPr>
          <p:cNvPr id="23" name="Shape 21"/>
          <p:cNvSpPr/>
          <p:nvPr/>
        </p:nvSpPr>
        <p:spPr>
          <a:xfrm>
            <a:off x="502920" y="4288536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762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30936" y="4398264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4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04  사람 승인·안전 경계</a:t>
            </a:r>
            <a:endParaRPr lang="en-US" sz="940" dirty="0"/>
          </a:p>
        </p:txBody>
      </p:sp>
      <p:sp>
        <p:nvSpPr>
          <p:cNvPr id="25" name="Text 23"/>
          <p:cNvSpPr/>
          <p:nvPr/>
        </p:nvSpPr>
        <p:spPr>
          <a:xfrm>
            <a:off x="2596896" y="4379976"/>
            <a:ext cx="36301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운임·수송력·시설·안전은 확인 필요로 남기고 위험물은 중단, 예약·계약·배차·결제는 자동 확정 금지</a:t>
            </a:r>
            <a:endParaRPr lang="en-US" sz="810" dirty="0"/>
          </a:p>
        </p:txBody>
      </p:sp>
      <p:sp>
        <p:nvSpPr>
          <p:cNvPr id="26" name="Text 24"/>
          <p:cNvSpPr/>
          <p:nvPr/>
        </p:nvSpPr>
        <p:spPr>
          <a:xfrm>
            <a:off x="6620256" y="4379976"/>
            <a:ext cx="18928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과장 없는 비교와</a:t>
            </a:r>
            <a:endParaRPr lang="en-US" sz="840" dirty="0"/>
          </a:p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최종 통제권 유지</a:t>
            </a:r>
            <a:endParaRPr lang="en-US" sz="840" dirty="0"/>
          </a:p>
        </p:txBody>
      </p:sp>
      <p:sp>
        <p:nvSpPr>
          <p:cNvPr id="27" name="Shape 25"/>
          <p:cNvSpPr/>
          <p:nvPr/>
        </p:nvSpPr>
        <p:spPr>
          <a:xfrm>
            <a:off x="502920" y="5120640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762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30936" y="5230368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4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05  거절·이탈 사유 학습</a:t>
            </a:r>
            <a:endParaRPr lang="en-US" sz="940" dirty="0"/>
          </a:p>
        </p:txBody>
      </p:sp>
      <p:sp>
        <p:nvSpPr>
          <p:cNvPr id="29" name="Text 27"/>
          <p:cNvSpPr/>
          <p:nvPr/>
        </p:nvSpPr>
        <p:spPr>
          <a:xfrm>
            <a:off x="2596896" y="5212080"/>
            <a:ext cx="36301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거절 이유와 풀 참여·이탈 이벤트를 구조화해 동일 제안 반복을 막고 다음 제안·운영 개선의 입력으로 저장</a:t>
            </a:r>
            <a:endParaRPr lang="en-US" sz="810" dirty="0"/>
          </a:p>
        </p:txBody>
      </p:sp>
      <p:sp>
        <p:nvSpPr>
          <p:cNvPr id="30" name="Text 28"/>
          <p:cNvSpPr/>
          <p:nvPr/>
        </p:nvSpPr>
        <p:spPr>
          <a:xfrm>
            <a:off x="6620256" y="5212080"/>
            <a:ext cx="18928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실패를 버리지 않고</a:t>
            </a:r>
            <a:endParaRPr lang="en-US" sz="840" dirty="0"/>
          </a:p>
          <a:p>
            <a:pPr algn="ctr" indent="0" marL="0">
              <a:buNone/>
            </a:pPr>
            <a:r>
              <a:rPr lang="en-US" sz="84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다음 전환에 활용</a:t>
            </a:r>
            <a:endParaRPr lang="en-US" sz="840" dirty="0"/>
          </a:p>
        </p:txBody>
      </p:sp>
      <p:sp>
        <p:nvSpPr>
          <p:cNvPr id="31" name="Shape 29"/>
          <p:cNvSpPr/>
          <p:nvPr/>
        </p:nvSpPr>
        <p:spPr>
          <a:xfrm>
            <a:off x="502920" y="6053328"/>
            <a:ext cx="8138160" cy="274320"/>
          </a:xfrm>
          <a:prstGeom prst="roundRect">
            <a:avLst>
              <a:gd name="adj" fmla="val 26667"/>
            </a:avLst>
          </a:prstGeom>
          <a:solidFill>
            <a:srgbClr val="FFF3DC"/>
          </a:solidFill>
          <a:ln w="10160">
            <a:solidFill>
              <a:srgbClr val="FFF3DC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658368" y="6089904"/>
            <a:ext cx="78272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8B540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핵심 원칙: 추천 건수보다 실제 전환을 보고, 실패 사유까지 다음 제안의 데이터로 남깁니다.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475488" y="6437376"/>
            <a:ext cx="8193024" cy="0"/>
          </a:xfrm>
          <a:prstGeom prst="line">
            <a:avLst/>
          </a:prstGeom>
          <a:noFill/>
          <a:ln w="889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475488" y="6492240"/>
            <a:ext cx="3886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MOVE AI CHALLENGE 2026 · 레일 물류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8229600" y="649224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07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347472"/>
            <a:ext cx="502920" cy="274320"/>
          </a:xfrm>
          <a:prstGeom prst="roundRect">
            <a:avLst>
              <a:gd name="adj" fmla="val 2666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356616"/>
            <a:ext cx="35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33856" y="274320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모델 및 프롬프트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43000" y="740664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생성형 AI 하나에 운송 결정을 맡기지 않고, 규칙·데이터·상태 엔진과 사람 승인을 결합합니다.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75488" y="1078992"/>
            <a:ext cx="8193024" cy="0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02920" y="1335024"/>
            <a:ext cx="502920" cy="274320"/>
          </a:xfrm>
          <a:prstGeom prst="roundRect">
            <a:avLst>
              <a:gd name="adj" fmla="val 26667"/>
            </a:avLst>
          </a:prstGeom>
          <a:solidFill>
            <a:srgbClr val="1769FF"/>
          </a:solidFill>
          <a:ln w="12700">
            <a:solidFill>
              <a:srgbClr val="1769F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76072" y="1344168"/>
            <a:ext cx="35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LLM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133856" y="1307592"/>
            <a:ext cx="3401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gpt-5.6-sol · Responses 호환 API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33856" y="1600200"/>
            <a:ext cx="3401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한국어 메일 → 허용된 필드만 JSON 추출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02920" y="1965960"/>
            <a:ext cx="3913632" cy="2240280"/>
          </a:xfrm>
          <a:prstGeom prst="roundRect">
            <a:avLst>
              <a:gd name="adj" fmla="val 3265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13232" y="2157984"/>
            <a:ext cx="3493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6B7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SYSTEM PROMPT · 핵심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713232" y="2523744"/>
            <a:ext cx="34564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“화물 운송 메일에서 원문에 있는 값만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JSON으로 추출하세요. 없는 값은 null로 두세요.”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13232" y="3355848"/>
            <a:ext cx="34015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C8D7E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origin · destination · containerSize · containerCount</a:t>
            </a:r>
            <a:endParaRPr lang="en-US" sz="810" dirty="0"/>
          </a:p>
          <a:p>
            <a:pPr indent="0" marL="0">
              <a:buNone/>
            </a:pPr>
            <a:r>
              <a:rPr lang="en-US" sz="810" dirty="0">
                <a:solidFill>
                  <a:srgbClr val="C8D7E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departureDate · deadline · hazardous · roadCost</a:t>
            </a:r>
            <a:endParaRPr lang="en-US" sz="810" dirty="0"/>
          </a:p>
          <a:p>
            <a:pPr indent="0" marL="0">
              <a:buNone/>
            </a:pPr>
            <a:r>
              <a:rPr lang="en-US" sz="810" dirty="0">
                <a:solidFill>
                  <a:srgbClr val="C8D7E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cargo · weightTons</a:t>
            </a:r>
            <a:endParaRPr lang="en-US" sz="810" dirty="0"/>
          </a:p>
        </p:txBody>
      </p:sp>
      <p:sp>
        <p:nvSpPr>
          <p:cNvPr id="15" name="Text 13"/>
          <p:cNvSpPr/>
          <p:nvPr/>
        </p:nvSpPr>
        <p:spPr>
          <a:xfrm>
            <a:off x="4754880" y="1307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분업 파이프라인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736592" y="1755648"/>
            <a:ext cx="3904488" cy="603504"/>
          </a:xfrm>
          <a:prstGeom prst="roundRect">
            <a:avLst>
              <a:gd name="adj" fmla="val 12121"/>
            </a:avLst>
          </a:prstGeom>
          <a:solidFill>
            <a:srgbClr val="EAF2FF"/>
          </a:solidFill>
          <a:ln w="762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882896" y="1883664"/>
            <a:ext cx="347472" cy="347472"/>
          </a:xfrm>
          <a:prstGeom prst="ellipse">
            <a:avLst/>
          </a:prstGeom>
          <a:solidFill>
            <a:srgbClr val="0F5AC7"/>
          </a:solidFill>
          <a:ln w="12700">
            <a:solidFill>
              <a:srgbClr val="0F5AC7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882896" y="1888236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358384" y="1847088"/>
            <a:ext cx="130759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LLM 추출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84708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원문 값만 구조화</a:t>
            </a:r>
            <a:endParaRPr lang="en-US" sz="830" dirty="0"/>
          </a:p>
        </p:txBody>
      </p:sp>
      <p:sp>
        <p:nvSpPr>
          <p:cNvPr id="21" name="Shape 19"/>
          <p:cNvSpPr/>
          <p:nvPr/>
        </p:nvSpPr>
        <p:spPr>
          <a:xfrm>
            <a:off x="6702552" y="2368296"/>
            <a:ext cx="0" cy="128016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4736592" y="2514600"/>
            <a:ext cx="3904488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762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4882896" y="2642616"/>
            <a:ext cx="347472" cy="347472"/>
          </a:xfrm>
          <a:prstGeom prst="ellipse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882896" y="2647188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2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358384" y="2606040"/>
            <a:ext cx="130759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스키마 정규화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629400" y="26060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화이트리스트·범위 검증</a:t>
            </a:r>
            <a:endParaRPr lang="en-US" sz="830" dirty="0"/>
          </a:p>
        </p:txBody>
      </p:sp>
      <p:sp>
        <p:nvSpPr>
          <p:cNvPr id="27" name="Shape 25"/>
          <p:cNvSpPr/>
          <p:nvPr/>
        </p:nvSpPr>
        <p:spPr>
          <a:xfrm>
            <a:off x="6702552" y="3127248"/>
            <a:ext cx="0" cy="128016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4736592" y="3273552"/>
            <a:ext cx="3904488" cy="603504"/>
          </a:xfrm>
          <a:prstGeom prst="roundRect">
            <a:avLst>
              <a:gd name="adj" fmla="val 12121"/>
            </a:avLst>
          </a:prstGeom>
          <a:solidFill>
            <a:srgbClr val="E8F8F1"/>
          </a:solidFill>
          <a:ln w="762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4882896" y="3401568"/>
            <a:ext cx="347472" cy="347472"/>
          </a:xfrm>
          <a:prstGeom prst="ellipse">
            <a:avLst/>
          </a:prstGeom>
          <a:solidFill>
            <a:srgbClr val="0A7C50"/>
          </a:solidFill>
          <a:ln w="12700">
            <a:solidFill>
              <a:srgbClr val="0A7C50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4882896" y="3406140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3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358384" y="3364992"/>
            <a:ext cx="130759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규칙·데이터 엔진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629400" y="3364992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3단계 판정·D2D·안전</a:t>
            </a:r>
            <a:endParaRPr lang="en-US" sz="830" dirty="0"/>
          </a:p>
        </p:txBody>
      </p:sp>
      <p:sp>
        <p:nvSpPr>
          <p:cNvPr id="33" name="Shape 31"/>
          <p:cNvSpPr/>
          <p:nvPr/>
        </p:nvSpPr>
        <p:spPr>
          <a:xfrm>
            <a:off x="6702552" y="3886200"/>
            <a:ext cx="0" cy="128016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4736592" y="4032504"/>
            <a:ext cx="3904488" cy="603504"/>
          </a:xfrm>
          <a:prstGeom prst="roundRect">
            <a:avLst>
              <a:gd name="adj" fmla="val 12121"/>
            </a:avLst>
          </a:prstGeom>
          <a:solidFill>
            <a:srgbClr val="FFF3DC"/>
          </a:solidFill>
          <a:ln w="1397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4882896" y="4160520"/>
            <a:ext cx="347472" cy="347472"/>
          </a:xfrm>
          <a:prstGeom prst="ellipse">
            <a:avLst/>
          </a:prstGeom>
          <a:solidFill>
            <a:srgbClr val="9B6200"/>
          </a:solidFill>
          <a:ln w="12700">
            <a:solidFill>
              <a:srgbClr val="9B6200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4882896" y="4165092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4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358384" y="4123944"/>
            <a:ext cx="130759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9B620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화주 에이전트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629400" y="4123944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풀 참여·이탈·이벤트</a:t>
            </a:r>
            <a:endParaRPr lang="en-US" sz="830" dirty="0"/>
          </a:p>
        </p:txBody>
      </p:sp>
      <p:sp>
        <p:nvSpPr>
          <p:cNvPr id="39" name="Shape 37"/>
          <p:cNvSpPr/>
          <p:nvPr/>
        </p:nvSpPr>
        <p:spPr>
          <a:xfrm>
            <a:off x="6702552" y="4645152"/>
            <a:ext cx="0" cy="128016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40" name="Shape 38"/>
          <p:cNvSpPr/>
          <p:nvPr/>
        </p:nvSpPr>
        <p:spPr>
          <a:xfrm>
            <a:off x="4736592" y="4791456"/>
            <a:ext cx="3904488" cy="603504"/>
          </a:xfrm>
          <a:prstGeom prst="roundRect">
            <a:avLst>
              <a:gd name="adj" fmla="val 12121"/>
            </a:avLst>
          </a:prstGeom>
          <a:solidFill>
            <a:srgbClr val="EAF2FF"/>
          </a:solidFill>
          <a:ln w="762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4882896" y="4919472"/>
            <a:ext cx="347472" cy="347472"/>
          </a:xfrm>
          <a:prstGeom prst="ellipse">
            <a:avLst/>
          </a:prstGeom>
          <a:solidFill>
            <a:srgbClr val="0F5AC7"/>
          </a:solidFill>
          <a:ln w="12700">
            <a:solidFill>
              <a:srgbClr val="0F5AC7"/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4882896" y="4924044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5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358384" y="4882896"/>
            <a:ext cx="130759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설명 UI·사람 승인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629400" y="4882896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배지·근거·최종확정</a:t>
            </a:r>
            <a:endParaRPr lang="en-US" sz="830" dirty="0"/>
          </a:p>
        </p:txBody>
      </p:sp>
      <p:sp>
        <p:nvSpPr>
          <p:cNvPr id="45" name="Text 43"/>
          <p:cNvSpPr/>
          <p:nvPr/>
        </p:nvSpPr>
        <p:spPr>
          <a:xfrm>
            <a:off x="502920" y="453542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가드레일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502920" y="4828032"/>
            <a:ext cx="1874520" cy="274320"/>
          </a:xfrm>
          <a:prstGeom prst="roundRect">
            <a:avLst>
              <a:gd name="adj" fmla="val 26667"/>
            </a:avLst>
          </a:prstGeom>
          <a:solidFill>
            <a:srgbClr val="FDEBEC"/>
          </a:solidFill>
          <a:ln w="12700">
            <a:solidFill>
              <a:srgbClr val="FDEBEC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576072" y="4837176"/>
            <a:ext cx="1728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E5484D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원문 밖 값 금지</a:t>
            </a:r>
            <a:endParaRPr lang="en-US" sz="820" dirty="0"/>
          </a:p>
        </p:txBody>
      </p:sp>
      <p:sp>
        <p:nvSpPr>
          <p:cNvPr id="48" name="Shape 46"/>
          <p:cNvSpPr/>
          <p:nvPr/>
        </p:nvSpPr>
        <p:spPr>
          <a:xfrm>
            <a:off x="2542032" y="4828032"/>
            <a:ext cx="1874520" cy="274320"/>
          </a:xfrm>
          <a:prstGeom prst="roundRect">
            <a:avLst>
              <a:gd name="adj" fmla="val 26667"/>
            </a:avLst>
          </a:prstGeom>
          <a:solidFill>
            <a:srgbClr val="FFF3DC"/>
          </a:solidFill>
          <a:ln w="12700">
            <a:solidFill>
              <a:srgbClr val="FFF3DC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2615184" y="4837176"/>
            <a:ext cx="1728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9B620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누락값 null</a:t>
            </a:r>
            <a:endParaRPr lang="en-US" sz="820" dirty="0"/>
          </a:p>
        </p:txBody>
      </p:sp>
      <p:sp>
        <p:nvSpPr>
          <p:cNvPr id="50" name="Shape 48"/>
          <p:cNvSpPr/>
          <p:nvPr/>
        </p:nvSpPr>
        <p:spPr>
          <a:xfrm>
            <a:off x="502920" y="5111496"/>
            <a:ext cx="1874520" cy="274320"/>
          </a:xfrm>
          <a:prstGeom prst="roundRect">
            <a:avLst>
              <a:gd name="adj" fmla="val 26667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576072" y="5120640"/>
            <a:ext cx="1728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화이트리스트 정규화</a:t>
            </a:r>
            <a:endParaRPr lang="en-US" sz="820" dirty="0"/>
          </a:p>
        </p:txBody>
      </p:sp>
      <p:sp>
        <p:nvSpPr>
          <p:cNvPr id="52" name="Shape 50"/>
          <p:cNvSpPr/>
          <p:nvPr/>
        </p:nvSpPr>
        <p:spPr>
          <a:xfrm>
            <a:off x="2542032" y="5111496"/>
            <a:ext cx="1874520" cy="274320"/>
          </a:xfrm>
          <a:prstGeom prst="roundRect">
            <a:avLst>
              <a:gd name="adj" fmla="val 26667"/>
            </a:avLst>
          </a:prstGeom>
          <a:solidFill>
            <a:srgbClr val="E8F8F1"/>
          </a:solidFill>
          <a:ln w="12700">
            <a:solidFill>
              <a:srgbClr val="E8F8F1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2615184" y="5120640"/>
            <a:ext cx="1728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12초 타임아웃·규칙 폴백</a:t>
            </a:r>
            <a:endParaRPr lang="en-US" sz="820" dirty="0"/>
          </a:p>
        </p:txBody>
      </p:sp>
      <p:sp>
        <p:nvSpPr>
          <p:cNvPr id="54" name="Shape 52"/>
          <p:cNvSpPr/>
          <p:nvPr/>
        </p:nvSpPr>
        <p:spPr>
          <a:xfrm>
            <a:off x="502920" y="5422392"/>
            <a:ext cx="8138160" cy="612648"/>
          </a:xfrm>
          <a:prstGeom prst="roundRect">
            <a:avLst>
              <a:gd name="adj" fmla="val 11940"/>
            </a:avLst>
          </a:prstGeom>
          <a:solidFill>
            <a:srgbClr val="EEF2F8"/>
          </a:solidFill>
          <a:ln w="10160">
            <a:solidFill>
              <a:srgbClr val="EEF2F8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713232" y="5559552"/>
            <a:ext cx="11612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E5484D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AI가 하지 않는 것</a:t>
            </a:r>
            <a:endParaRPr lang="en-US" sz="920" dirty="0"/>
          </a:p>
        </p:txBody>
      </p:sp>
      <p:sp>
        <p:nvSpPr>
          <p:cNvPr id="56" name="Text 54"/>
          <p:cNvSpPr/>
          <p:nvPr/>
        </p:nvSpPr>
        <p:spPr>
          <a:xfrm>
            <a:off x="1956816" y="5532120"/>
            <a:ext cx="64190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6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실제 운임·적재 가능 여부·위험물 취급·계약·배차·결제를 임의로 확정하지 않습니다.</a:t>
            </a:r>
            <a:endParaRPr lang="en-US" sz="960" dirty="0"/>
          </a:p>
        </p:txBody>
      </p:sp>
      <p:sp>
        <p:nvSpPr>
          <p:cNvPr id="57" name="Shape 55"/>
          <p:cNvSpPr/>
          <p:nvPr/>
        </p:nvSpPr>
        <p:spPr>
          <a:xfrm>
            <a:off x="475488" y="6437376"/>
            <a:ext cx="8193024" cy="0"/>
          </a:xfrm>
          <a:prstGeom prst="line">
            <a:avLst/>
          </a:prstGeom>
          <a:noFill/>
          <a:ln w="889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58" name="Text 56"/>
          <p:cNvSpPr/>
          <p:nvPr/>
        </p:nvSpPr>
        <p:spPr>
          <a:xfrm>
            <a:off x="475488" y="6492240"/>
            <a:ext cx="3886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MOVE AI CHALLENGE 2026 · 레일 물류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8229600" y="649224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08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347472"/>
            <a:ext cx="502920" cy="274320"/>
          </a:xfrm>
          <a:prstGeom prst="roundRect">
            <a:avLst>
              <a:gd name="adj" fmla="val 2666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356616"/>
            <a:ext cx="35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33856" y="274320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구현 결과 및 검증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43000" y="740664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현재 코드·Docker 런타임·공개 HTTPS·실제 390px/320px 화면을 다시 확인한 결과입니다.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75488" y="1078992"/>
            <a:ext cx="8193024" cy="0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02920" y="1307592"/>
            <a:ext cx="1325880" cy="804672"/>
          </a:xfrm>
          <a:prstGeom prst="roundRect">
            <a:avLst>
              <a:gd name="adj" fmla="val 9091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9224" y="1399032"/>
            <a:ext cx="1033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PASS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49224" y="1755648"/>
            <a:ext cx="10332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프로덕션 빌드</a:t>
            </a:r>
            <a:endParaRPr lang="en-US" sz="870" dirty="0"/>
          </a:p>
        </p:txBody>
      </p:sp>
      <p:sp>
        <p:nvSpPr>
          <p:cNvPr id="10" name="Shape 8"/>
          <p:cNvSpPr/>
          <p:nvPr/>
        </p:nvSpPr>
        <p:spPr>
          <a:xfrm>
            <a:off x="1956816" y="1307592"/>
            <a:ext cx="1325880" cy="804672"/>
          </a:xfrm>
          <a:prstGeom prst="roundRect">
            <a:avLst>
              <a:gd name="adj" fmla="val 9091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103120" y="1399032"/>
            <a:ext cx="1033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5 / 5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2103120" y="1755648"/>
            <a:ext cx="10332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백엔드 테스트</a:t>
            </a:r>
            <a:endParaRPr lang="en-US" sz="870" dirty="0"/>
          </a:p>
        </p:txBody>
      </p:sp>
      <p:sp>
        <p:nvSpPr>
          <p:cNvPr id="13" name="Shape 11"/>
          <p:cNvSpPr/>
          <p:nvPr/>
        </p:nvSpPr>
        <p:spPr>
          <a:xfrm>
            <a:off x="3410712" y="1307592"/>
            <a:ext cx="1325880" cy="804672"/>
          </a:xfrm>
          <a:prstGeom prst="roundRect">
            <a:avLst>
              <a:gd name="adj" fmla="val 9091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557016" y="1399032"/>
            <a:ext cx="1033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3 / 3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3557016" y="1755648"/>
            <a:ext cx="10332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End-to-End</a:t>
            </a:r>
            <a:endParaRPr lang="en-US" sz="870" dirty="0"/>
          </a:p>
        </p:txBody>
      </p:sp>
      <p:sp>
        <p:nvSpPr>
          <p:cNvPr id="16" name="Shape 14"/>
          <p:cNvSpPr/>
          <p:nvPr/>
        </p:nvSpPr>
        <p:spPr>
          <a:xfrm>
            <a:off x="4864608" y="1307592"/>
            <a:ext cx="1325880" cy="804672"/>
          </a:xfrm>
          <a:prstGeom prst="roundRect">
            <a:avLst>
              <a:gd name="adj" fmla="val 9091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010912" y="1399032"/>
            <a:ext cx="1033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10 / 10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5010912" y="1755648"/>
            <a:ext cx="10332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에이전트 온라인</a:t>
            </a:r>
            <a:endParaRPr lang="en-US" sz="870" dirty="0"/>
          </a:p>
        </p:txBody>
      </p:sp>
      <p:sp>
        <p:nvSpPr>
          <p:cNvPr id="19" name="Shape 17"/>
          <p:cNvSpPr/>
          <p:nvPr/>
        </p:nvSpPr>
        <p:spPr>
          <a:xfrm>
            <a:off x="502920" y="2331720"/>
            <a:ext cx="5687568" cy="3529584"/>
          </a:xfrm>
          <a:prstGeom prst="roundRect">
            <a:avLst>
              <a:gd name="adj" fmla="val 2073"/>
            </a:avLst>
          </a:prstGeom>
          <a:solidFill>
            <a:srgbClr val="FFFFFF"/>
          </a:solidFill>
          <a:ln w="1016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13232" y="2514600"/>
            <a:ext cx="1298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검증 항목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2221992" y="251460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확인 결과</a:t>
            </a:r>
            <a:endParaRPr lang="en-US" sz="930" dirty="0"/>
          </a:p>
        </p:txBody>
      </p:sp>
      <p:sp>
        <p:nvSpPr>
          <p:cNvPr id="22" name="Text 20"/>
          <p:cNvSpPr/>
          <p:nvPr/>
        </p:nvSpPr>
        <p:spPr>
          <a:xfrm>
            <a:off x="5376672" y="2514600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상태</a:t>
            </a:r>
            <a:endParaRPr lang="en-US" sz="930" dirty="0"/>
          </a:p>
        </p:txBody>
      </p:sp>
      <p:sp>
        <p:nvSpPr>
          <p:cNvPr id="23" name="Shape 21"/>
          <p:cNvSpPr/>
          <p:nvPr/>
        </p:nvSpPr>
        <p:spPr>
          <a:xfrm>
            <a:off x="713232" y="2816352"/>
            <a:ext cx="5230368" cy="0"/>
          </a:xfrm>
          <a:prstGeom prst="line">
            <a:avLst/>
          </a:prstGeom>
          <a:noFill/>
          <a:ln w="1016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731520" y="2944368"/>
            <a:ext cx="12527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Build</a:t>
            </a:r>
            <a:endParaRPr lang="en-US" sz="880" dirty="0"/>
          </a:p>
        </p:txBody>
      </p:sp>
      <p:sp>
        <p:nvSpPr>
          <p:cNvPr id="25" name="Text 23"/>
          <p:cNvSpPr/>
          <p:nvPr/>
        </p:nvSpPr>
        <p:spPr>
          <a:xfrm>
            <a:off x="2221992" y="2944368"/>
            <a:ext cx="29535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Vite 57 modules · JS 272.31kB (gzip 82.87kB)</a:t>
            </a:r>
            <a:endParaRPr lang="en-US" sz="820" dirty="0"/>
          </a:p>
        </p:txBody>
      </p:sp>
      <p:sp>
        <p:nvSpPr>
          <p:cNvPr id="26" name="Shape 24"/>
          <p:cNvSpPr/>
          <p:nvPr/>
        </p:nvSpPr>
        <p:spPr>
          <a:xfrm>
            <a:off x="5385816" y="2926080"/>
            <a:ext cx="548640" cy="228600"/>
          </a:xfrm>
          <a:prstGeom prst="roundRect">
            <a:avLst>
              <a:gd name="adj" fmla="val 32000"/>
            </a:avLst>
          </a:prstGeom>
          <a:solidFill>
            <a:srgbClr val="E8F8F1"/>
          </a:solidFill>
          <a:ln w="12700">
            <a:solidFill>
              <a:srgbClr val="E8F8F1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458968" y="2935224"/>
            <a:ext cx="402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PASS</a:t>
            </a:r>
            <a:endParaRPr lang="en-US" sz="770" dirty="0"/>
          </a:p>
        </p:txBody>
      </p:sp>
      <p:sp>
        <p:nvSpPr>
          <p:cNvPr id="28" name="Shape 26"/>
          <p:cNvSpPr/>
          <p:nvPr/>
        </p:nvSpPr>
        <p:spPr>
          <a:xfrm>
            <a:off x="640080" y="3374136"/>
            <a:ext cx="5413248" cy="402336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731520" y="3401568"/>
            <a:ext cx="12527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API · DB</a:t>
            </a:r>
            <a:endParaRPr lang="en-US" sz="880" dirty="0"/>
          </a:p>
        </p:txBody>
      </p:sp>
      <p:sp>
        <p:nvSpPr>
          <p:cNvPr id="30" name="Text 28"/>
          <p:cNvSpPr/>
          <p:nvPr/>
        </p:nvSpPr>
        <p:spPr>
          <a:xfrm>
            <a:off x="2221992" y="3401568"/>
            <a:ext cx="29535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/health ok · PostgreSQL healthy · AI enabled</a:t>
            </a:r>
            <a:endParaRPr lang="en-US" sz="820" dirty="0"/>
          </a:p>
        </p:txBody>
      </p:sp>
      <p:sp>
        <p:nvSpPr>
          <p:cNvPr id="31" name="Shape 29"/>
          <p:cNvSpPr/>
          <p:nvPr/>
        </p:nvSpPr>
        <p:spPr>
          <a:xfrm>
            <a:off x="5385816" y="3383280"/>
            <a:ext cx="548640" cy="228600"/>
          </a:xfrm>
          <a:prstGeom prst="roundRect">
            <a:avLst>
              <a:gd name="adj" fmla="val 32000"/>
            </a:avLst>
          </a:prstGeom>
          <a:solidFill>
            <a:srgbClr val="E8F8F1"/>
          </a:solidFill>
          <a:ln w="12700">
            <a:solidFill>
              <a:srgbClr val="E8F8F1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5458968" y="3392424"/>
            <a:ext cx="402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PASS</a:t>
            </a:r>
            <a:endParaRPr lang="en-US" sz="770" dirty="0"/>
          </a:p>
        </p:txBody>
      </p:sp>
      <p:sp>
        <p:nvSpPr>
          <p:cNvPr id="33" name="Text 31"/>
          <p:cNvSpPr/>
          <p:nvPr/>
        </p:nvSpPr>
        <p:spPr>
          <a:xfrm>
            <a:off x="731520" y="3858768"/>
            <a:ext cx="12527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Public Data</a:t>
            </a:r>
            <a:endParaRPr lang="en-US" sz="880" dirty="0"/>
          </a:p>
        </p:txBody>
      </p:sp>
      <p:sp>
        <p:nvSpPr>
          <p:cNvPr id="34" name="Text 32"/>
          <p:cNvSpPr/>
          <p:nvPr/>
        </p:nvSpPr>
        <p:spPr>
          <a:xfrm>
            <a:off x="2221992" y="3858768"/>
            <a:ext cx="29535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KORAIL·ODCloud 데이터셋 6/6 HTTP 200</a:t>
            </a:r>
            <a:endParaRPr lang="en-US" sz="820" dirty="0"/>
          </a:p>
        </p:txBody>
      </p:sp>
      <p:sp>
        <p:nvSpPr>
          <p:cNvPr id="35" name="Shape 33"/>
          <p:cNvSpPr/>
          <p:nvPr/>
        </p:nvSpPr>
        <p:spPr>
          <a:xfrm>
            <a:off x="5385816" y="3840480"/>
            <a:ext cx="548640" cy="228600"/>
          </a:xfrm>
          <a:prstGeom prst="roundRect">
            <a:avLst>
              <a:gd name="adj" fmla="val 32000"/>
            </a:avLst>
          </a:prstGeom>
          <a:solidFill>
            <a:srgbClr val="E8F8F1"/>
          </a:solidFill>
          <a:ln w="12700">
            <a:solidFill>
              <a:srgbClr val="E8F8F1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5458968" y="3849624"/>
            <a:ext cx="402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PASS</a:t>
            </a:r>
            <a:endParaRPr lang="en-US" sz="770" dirty="0"/>
          </a:p>
        </p:txBody>
      </p:sp>
      <p:sp>
        <p:nvSpPr>
          <p:cNvPr id="37" name="Shape 35"/>
          <p:cNvSpPr/>
          <p:nvPr/>
        </p:nvSpPr>
        <p:spPr>
          <a:xfrm>
            <a:off x="640080" y="4288536"/>
            <a:ext cx="5413248" cy="402336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731520" y="4315968"/>
            <a:ext cx="12527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Runtime</a:t>
            </a:r>
            <a:endParaRPr lang="en-US" sz="880" dirty="0"/>
          </a:p>
        </p:txBody>
      </p:sp>
      <p:sp>
        <p:nvSpPr>
          <p:cNvPr id="39" name="Text 37"/>
          <p:cNvSpPr/>
          <p:nvPr/>
        </p:nvSpPr>
        <p:spPr>
          <a:xfrm>
            <a:off x="2221992" y="4315968"/>
            <a:ext cx="29535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Web + API + DB + Agent 10 = 13개 컨테이너 healthy</a:t>
            </a:r>
            <a:endParaRPr lang="en-US" sz="820" dirty="0"/>
          </a:p>
        </p:txBody>
      </p:sp>
      <p:sp>
        <p:nvSpPr>
          <p:cNvPr id="40" name="Shape 38"/>
          <p:cNvSpPr/>
          <p:nvPr/>
        </p:nvSpPr>
        <p:spPr>
          <a:xfrm>
            <a:off x="5385816" y="4297680"/>
            <a:ext cx="548640" cy="228600"/>
          </a:xfrm>
          <a:prstGeom prst="roundRect">
            <a:avLst>
              <a:gd name="adj" fmla="val 32000"/>
            </a:avLst>
          </a:prstGeom>
          <a:solidFill>
            <a:srgbClr val="E8F8F1"/>
          </a:solidFill>
          <a:ln w="12700">
            <a:solidFill>
              <a:srgbClr val="E8F8F1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5458968" y="4306824"/>
            <a:ext cx="402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PASS</a:t>
            </a:r>
            <a:endParaRPr lang="en-US" sz="770" dirty="0"/>
          </a:p>
        </p:txBody>
      </p:sp>
      <p:sp>
        <p:nvSpPr>
          <p:cNvPr id="42" name="Text 40"/>
          <p:cNvSpPr/>
          <p:nvPr/>
        </p:nvSpPr>
        <p:spPr>
          <a:xfrm>
            <a:off x="731520" y="4773168"/>
            <a:ext cx="12527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Mobile UX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2221992" y="4773168"/>
            <a:ext cx="29535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320px overflow 0 · 24px 미만 조작부 0 · 8px 미만 텍스트 0</a:t>
            </a:r>
            <a:endParaRPr lang="en-US" sz="820" dirty="0"/>
          </a:p>
        </p:txBody>
      </p:sp>
      <p:sp>
        <p:nvSpPr>
          <p:cNvPr id="44" name="Shape 42"/>
          <p:cNvSpPr/>
          <p:nvPr/>
        </p:nvSpPr>
        <p:spPr>
          <a:xfrm>
            <a:off x="5385816" y="4754880"/>
            <a:ext cx="548640" cy="228600"/>
          </a:xfrm>
          <a:prstGeom prst="roundRect">
            <a:avLst>
              <a:gd name="adj" fmla="val 32000"/>
            </a:avLst>
          </a:prstGeom>
          <a:solidFill>
            <a:srgbClr val="E8F8F1"/>
          </a:solidFill>
          <a:ln w="12700">
            <a:solidFill>
              <a:srgbClr val="E8F8F1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5458968" y="4764024"/>
            <a:ext cx="402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PASS</a:t>
            </a:r>
            <a:endParaRPr lang="en-US" sz="770" dirty="0"/>
          </a:p>
        </p:txBody>
      </p:sp>
      <p:sp>
        <p:nvSpPr>
          <p:cNvPr id="46" name="Shape 44"/>
          <p:cNvSpPr/>
          <p:nvPr/>
        </p:nvSpPr>
        <p:spPr>
          <a:xfrm>
            <a:off x="640080" y="5202936"/>
            <a:ext cx="5413248" cy="402336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731520" y="5230368"/>
            <a:ext cx="12527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Public Path</a:t>
            </a:r>
            <a:endParaRPr lang="en-US" sz="880" dirty="0"/>
          </a:p>
        </p:txBody>
      </p:sp>
      <p:sp>
        <p:nvSpPr>
          <p:cNvPr id="48" name="Text 46"/>
          <p:cNvSpPr/>
          <p:nvPr/>
        </p:nvSpPr>
        <p:spPr>
          <a:xfrm>
            <a:off x="2221992" y="5230368"/>
            <a:ext cx="29535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로컬 200 · 공개 HTTPS 200 · SSE 실시간 연결</a:t>
            </a:r>
            <a:endParaRPr lang="en-US" sz="820" dirty="0"/>
          </a:p>
        </p:txBody>
      </p:sp>
      <p:sp>
        <p:nvSpPr>
          <p:cNvPr id="49" name="Shape 47"/>
          <p:cNvSpPr/>
          <p:nvPr/>
        </p:nvSpPr>
        <p:spPr>
          <a:xfrm>
            <a:off x="5385816" y="5212080"/>
            <a:ext cx="548640" cy="228600"/>
          </a:xfrm>
          <a:prstGeom prst="roundRect">
            <a:avLst>
              <a:gd name="adj" fmla="val 32000"/>
            </a:avLst>
          </a:prstGeom>
          <a:solidFill>
            <a:srgbClr val="E8F8F1"/>
          </a:solidFill>
          <a:ln w="12700">
            <a:solidFill>
              <a:srgbClr val="E8F8F1"/>
            </a:solidFill>
            <a:prstDash val="solid"/>
          </a:ln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5458968" y="5221224"/>
            <a:ext cx="4023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PASS</a:t>
            </a:r>
            <a:endParaRPr lang="en-US" sz="770" dirty="0"/>
          </a:p>
        </p:txBody>
      </p:sp>
      <p:sp>
        <p:nvSpPr>
          <p:cNvPr id="51" name="Shape 49"/>
          <p:cNvSpPr/>
          <p:nvPr/>
        </p:nvSpPr>
        <p:spPr>
          <a:xfrm>
            <a:off x="502920" y="6007608"/>
            <a:ext cx="5687568" cy="301752"/>
          </a:xfrm>
          <a:prstGeom prst="roundRect">
            <a:avLst>
              <a:gd name="adj" fmla="val 24242"/>
            </a:avLst>
          </a:prstGeom>
          <a:solidFill>
            <a:srgbClr val="FFF3DC"/>
          </a:solidFill>
          <a:ln w="10160">
            <a:solidFill>
              <a:srgbClr val="FFF3DC"/>
            </a:solidFill>
            <a:prstDash val="solid"/>
          </a:ln>
        </p:spPr>
        <p:txBody>
          <a:bodyPr/>
          <a:p/>
        </p:txBody>
      </p:sp>
      <p:sp>
        <p:nvSpPr>
          <p:cNvPr id="52" name="Text 50"/>
          <p:cNvSpPr/>
          <p:nvPr/>
        </p:nvSpPr>
        <p:spPr>
          <a:xfrm>
            <a:off x="667512" y="6053328"/>
            <a:ext cx="53675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90" b="1" dirty="0">
                <a:solidFill>
                  <a:srgbClr val="8B540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검증 범위: 기능·접근성·연결성. 실제 운임 정확도와 현장 전환율은 파일럿 실증 대상입니다.</a:t>
            </a:r>
            <a:endParaRPr lang="en-US" sz="790" dirty="0"/>
          </a:p>
        </p:txBody>
      </p:sp>
      <p:sp>
        <p:nvSpPr>
          <p:cNvPr id="53" name="Shape 51"/>
          <p:cNvSpPr/>
          <p:nvPr/>
        </p:nvSpPr>
        <p:spPr>
          <a:xfrm>
            <a:off x="6688836" y="1165860"/>
            <a:ext cx="1984248" cy="4177026"/>
          </a:xfrm>
          <a:prstGeom prst="roundRect">
            <a:avLst>
              <a:gd name="adj" fmla="val 3687"/>
            </a:avLst>
          </a:prstGeom>
          <a:solidFill>
            <a:srgbClr val="FFFFFF"/>
          </a:solidFill>
          <a:ln w="13970">
            <a:solidFill>
              <a:srgbClr val="1769FF"/>
            </a:solidFill>
            <a:prstDash val="solid"/>
          </a:ln>
          <a:effectLst>
            <a:outerShdw sx="100000" sy="100000" kx="0" ky="0" algn="bl" rotWithShape="0" blurRad="5.679133646942494e+57" dist="1.1358267293884988e+58" dir="3.526387384320001e+68">
              <a:srgbClr val="0B1F3A">
                <a:alpha val="1.2999999999999999e+69"/>
              </a:srgbClr>
            </a:outerShdw>
          </a:effectLst>
        </p:spPr>
        <p:txBody>
          <a:bodyPr/>
          <a:p/>
        </p:txBody>
      </p:sp>
      <p:pic>
        <p:nvPicPr>
          <p:cNvPr id="54" name="Image 0" descr="/Users/tory/Desktop/기획/최종결과보고서_산출물/제품_캡처/11-live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39128" y="1216152"/>
            <a:ext cx="1883664" cy="4076442"/>
          </a:xfrm>
          <a:prstGeom prst="rect">
            <a:avLst/>
          </a:prstGeom>
        </p:spPr>
      </p:pic>
      <p:sp>
        <p:nvSpPr>
          <p:cNvPr id="55" name="Shape 52"/>
          <p:cNvSpPr/>
          <p:nvPr/>
        </p:nvSpPr>
        <p:spPr>
          <a:xfrm>
            <a:off x="6784848" y="5422392"/>
            <a:ext cx="1792224" cy="274320"/>
          </a:xfrm>
          <a:prstGeom prst="roundRect">
            <a:avLst>
              <a:gd name="adj" fmla="val 26667"/>
            </a:avLst>
          </a:prstGeom>
          <a:solidFill>
            <a:srgbClr val="E8F8F1"/>
          </a:solidFill>
          <a:ln w="12700">
            <a:solidFill>
              <a:srgbClr val="E8F8F1"/>
            </a:solidFill>
            <a:prstDash val="solid"/>
          </a:ln>
        </p:spPr>
        <p:txBody>
          <a:bodyPr/>
          <a:p/>
        </p:txBody>
      </p:sp>
      <p:sp>
        <p:nvSpPr>
          <p:cNvPr id="56" name="Text 53"/>
          <p:cNvSpPr/>
          <p:nvPr/>
        </p:nvSpPr>
        <p:spPr>
          <a:xfrm>
            <a:off x="6858000" y="543153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LIVE NETWORK · 10/10</a:t>
            </a:r>
            <a:endParaRPr lang="en-US" sz="840" dirty="0"/>
          </a:p>
        </p:txBody>
      </p:sp>
      <p:sp>
        <p:nvSpPr>
          <p:cNvPr id="57" name="Text 54"/>
          <p:cNvSpPr/>
          <p:nvPr/>
        </p:nvSpPr>
        <p:spPr>
          <a:xfrm>
            <a:off x="6729984" y="5779008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4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실제 화면에서 네트워크 상태와</a:t>
            </a:r>
            <a:endParaRPr lang="en-US" sz="840" dirty="0"/>
          </a:p>
          <a:p>
            <a:pPr algn="ctr" indent="0" marL="0">
              <a:buNone/>
            </a:pPr>
            <a:r>
              <a:rPr lang="en-US" sz="84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참여·이탈 이벤트를 확인</a:t>
            </a:r>
            <a:endParaRPr lang="en-US" sz="840" dirty="0"/>
          </a:p>
        </p:txBody>
      </p:sp>
      <p:sp>
        <p:nvSpPr>
          <p:cNvPr id="58" name="Text 55"/>
          <p:cNvSpPr/>
          <p:nvPr/>
        </p:nvSpPr>
        <p:spPr>
          <a:xfrm>
            <a:off x="475488" y="6254496"/>
            <a:ext cx="7726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i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테스트 실행 및 런타임 확인: 2026.08.13 KST</a:t>
            </a:r>
            <a:endParaRPr lang="en-US" sz="720" dirty="0"/>
          </a:p>
        </p:txBody>
      </p:sp>
      <p:sp>
        <p:nvSpPr>
          <p:cNvPr id="59" name="Shape 56"/>
          <p:cNvSpPr/>
          <p:nvPr/>
        </p:nvSpPr>
        <p:spPr>
          <a:xfrm>
            <a:off x="475488" y="6437376"/>
            <a:ext cx="8193024" cy="0"/>
          </a:xfrm>
          <a:prstGeom prst="line">
            <a:avLst/>
          </a:prstGeom>
          <a:noFill/>
          <a:ln w="889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60" name="Text 57"/>
          <p:cNvSpPr/>
          <p:nvPr/>
        </p:nvSpPr>
        <p:spPr>
          <a:xfrm>
            <a:off x="475488" y="6492240"/>
            <a:ext cx="3886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MOVE AI CHALLENGE 2026 · 레일 물류</a:t>
            </a:r>
            <a:endParaRPr lang="en-US" sz="750" dirty="0"/>
          </a:p>
        </p:txBody>
      </p:sp>
      <p:sp>
        <p:nvSpPr>
          <p:cNvPr id="61" name="Text 58"/>
          <p:cNvSpPr/>
          <p:nvPr/>
        </p:nvSpPr>
        <p:spPr>
          <a:xfrm>
            <a:off x="8229600" y="649224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09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347472"/>
            <a:ext cx="502920" cy="274320"/>
          </a:xfrm>
          <a:prstGeom prst="roundRect">
            <a:avLst>
              <a:gd name="adj" fmla="val 2666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356616"/>
            <a:ext cx="35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33856" y="274320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기대효과·성과지표 및 개선점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43000" y="740664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시연 예상값, 90일 PoC 목표, 현재 한계를 분리해 “추천 수”가 아닌 실제 전환을 측정합니다.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75488" y="1078992"/>
            <a:ext cx="8193024" cy="0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02920" y="1298448"/>
            <a:ext cx="1243584" cy="274320"/>
          </a:xfrm>
          <a:prstGeom prst="roundRect">
            <a:avLst>
              <a:gd name="adj" fmla="val 26667"/>
            </a:avLst>
          </a:prstGeom>
          <a:solidFill>
            <a:srgbClr val="FFF3DC"/>
          </a:solidFill>
          <a:ln w="12700">
            <a:solidFill>
              <a:srgbClr val="FFF3DC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76072" y="13075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9B620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DEMO ESTIMATE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874520" y="1307592"/>
            <a:ext cx="5157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아산 → 부산신항 · 20ft 4개 · 도로 견적 312만원 기준</a:t>
            </a:r>
            <a:endParaRPr lang="en-US" sz="1020" dirty="0"/>
          </a:p>
        </p:txBody>
      </p:sp>
      <p:sp>
        <p:nvSpPr>
          <p:cNvPr id="10" name="Shape 8"/>
          <p:cNvSpPr/>
          <p:nvPr/>
        </p:nvSpPr>
        <p:spPr>
          <a:xfrm>
            <a:off x="502920" y="1755648"/>
            <a:ext cx="1883664" cy="1060704"/>
          </a:xfrm>
          <a:prstGeom prst="roundRect">
            <a:avLst>
              <a:gd name="adj" fmla="val 6897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1901952"/>
            <a:ext cx="1609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전체 비용</a:t>
            </a:r>
            <a:endParaRPr lang="en-US" sz="840" dirty="0"/>
          </a:p>
        </p:txBody>
      </p:sp>
      <p:sp>
        <p:nvSpPr>
          <p:cNvPr id="12" name="Text 10"/>
          <p:cNvSpPr/>
          <p:nvPr/>
        </p:nvSpPr>
        <p:spPr>
          <a:xfrm>
            <a:off x="640080" y="2176272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312 → 256만원</a:t>
            </a:r>
            <a:endParaRPr lang="en-US" sz="1220" dirty="0"/>
          </a:p>
        </p:txBody>
      </p:sp>
      <p:sp>
        <p:nvSpPr>
          <p:cNvPr id="13" name="Text 11"/>
          <p:cNvSpPr/>
          <p:nvPr/>
        </p:nvSpPr>
        <p:spPr>
          <a:xfrm>
            <a:off x="640080" y="2487168"/>
            <a:ext cx="16093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−18%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2542032" y="1755648"/>
            <a:ext cx="1883664" cy="1060704"/>
          </a:xfrm>
          <a:prstGeom prst="roundRect">
            <a:avLst>
              <a:gd name="adj" fmla="val 6897"/>
            </a:avLst>
          </a:prstGeom>
          <a:solidFill>
            <a:srgbClr val="E8F8F1"/>
          </a:solidFill>
          <a:ln w="10160">
            <a:solidFill>
              <a:srgbClr val="E8F8F1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2679192" y="1901952"/>
            <a:ext cx="1609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탄소 배출</a:t>
            </a:r>
            <a:endParaRPr lang="en-US" sz="840" dirty="0"/>
          </a:p>
        </p:txBody>
      </p:sp>
      <p:sp>
        <p:nvSpPr>
          <p:cNvPr id="16" name="Text 14"/>
          <p:cNvSpPr/>
          <p:nvPr/>
        </p:nvSpPr>
        <p:spPr>
          <a:xfrm>
            <a:off x="2679192" y="2176272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1.94 → 0.74tCO₂e</a:t>
            </a:r>
            <a:endParaRPr lang="en-US" sz="1220" dirty="0"/>
          </a:p>
        </p:txBody>
      </p:sp>
      <p:sp>
        <p:nvSpPr>
          <p:cNvPr id="17" name="Text 15"/>
          <p:cNvSpPr/>
          <p:nvPr/>
        </p:nvSpPr>
        <p:spPr>
          <a:xfrm>
            <a:off x="2679192" y="2487168"/>
            <a:ext cx="16093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0A7C5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−62%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4581144" y="1755648"/>
            <a:ext cx="1883664" cy="1060704"/>
          </a:xfrm>
          <a:prstGeom prst="roundRect">
            <a:avLst>
              <a:gd name="adj" fmla="val 6897"/>
            </a:avLst>
          </a:prstGeom>
          <a:solidFill>
            <a:srgbClr val="FFF3DC"/>
          </a:solidFill>
          <a:ln w="10160">
            <a:solidFill>
              <a:srgbClr val="FFF3DC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718304" y="1901952"/>
            <a:ext cx="1609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총 소요시간</a:t>
            </a:r>
            <a:endParaRPr lang="en-US" sz="840" dirty="0"/>
          </a:p>
        </p:txBody>
      </p:sp>
      <p:sp>
        <p:nvSpPr>
          <p:cNvPr id="20" name="Text 18"/>
          <p:cNvSpPr/>
          <p:nvPr/>
        </p:nvSpPr>
        <p:spPr>
          <a:xfrm>
            <a:off x="4718304" y="2176272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31 → 35시간</a:t>
            </a:r>
            <a:endParaRPr lang="en-US" sz="1220" dirty="0"/>
          </a:p>
        </p:txBody>
      </p:sp>
      <p:sp>
        <p:nvSpPr>
          <p:cNvPr id="21" name="Text 19"/>
          <p:cNvSpPr/>
          <p:nvPr/>
        </p:nvSpPr>
        <p:spPr>
          <a:xfrm>
            <a:off x="4718304" y="2487168"/>
            <a:ext cx="16093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9B620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+4h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6620256" y="1755648"/>
            <a:ext cx="1883664" cy="1060704"/>
          </a:xfrm>
          <a:prstGeom prst="roundRect">
            <a:avLst>
              <a:gd name="adj" fmla="val 6897"/>
            </a:avLst>
          </a:prstGeom>
          <a:solidFill>
            <a:srgbClr val="EAF2FF"/>
          </a:solidFill>
          <a:ln w="10160">
            <a:solidFill>
              <a:srgbClr val="EAF2FF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757416" y="1901952"/>
            <a:ext cx="1609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함께 보내기</a:t>
            </a:r>
            <a:endParaRPr lang="en-US" sz="840" dirty="0"/>
          </a:p>
        </p:txBody>
      </p:sp>
      <p:sp>
        <p:nvSpPr>
          <p:cNvPr id="24" name="Text 22"/>
          <p:cNvSpPr/>
          <p:nvPr/>
        </p:nvSpPr>
        <p:spPr>
          <a:xfrm>
            <a:off x="6757416" y="2176272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15 → 18TEU</a:t>
            </a:r>
            <a:endParaRPr lang="en-US" sz="1220" dirty="0"/>
          </a:p>
        </p:txBody>
      </p:sp>
      <p:sp>
        <p:nvSpPr>
          <p:cNvPr id="25" name="Text 23"/>
          <p:cNvSpPr/>
          <p:nvPr/>
        </p:nvSpPr>
        <p:spPr>
          <a:xfrm>
            <a:off x="6757416" y="2487168"/>
            <a:ext cx="16093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목표 달성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502920" y="2999232"/>
            <a:ext cx="8138160" cy="420624"/>
          </a:xfrm>
          <a:prstGeom prst="roundRect">
            <a:avLst>
              <a:gd name="adj" fmla="val 17391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713232" y="3099816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39D98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NORTH STAR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746504" y="3081528"/>
            <a:ext cx="25420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7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AI 기여 순증 철도화물 톤수</a:t>
            </a:r>
            <a:endParaRPr lang="en-US" sz="1070" dirty="0"/>
          </a:p>
        </p:txBody>
      </p:sp>
      <p:sp>
        <p:nvSpPr>
          <p:cNvPr id="29" name="Text 27"/>
          <p:cNvSpPr/>
          <p:nvPr/>
        </p:nvSpPr>
        <p:spPr>
          <a:xfrm>
            <a:off x="4306824" y="3081528"/>
            <a:ext cx="4114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C8D7E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추천·조회 수는 보조지표  |  현업 검토와 실제 운송을 거친 물량을 결과지표로 측정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502920" y="3611880"/>
            <a:ext cx="3886200" cy="1984248"/>
          </a:xfrm>
          <a:prstGeom prst="roundRect">
            <a:avLst>
              <a:gd name="adj" fmla="val 3687"/>
            </a:avLst>
          </a:prstGeom>
          <a:solidFill>
            <a:srgbClr val="FFFFFF"/>
          </a:solidFill>
          <a:ln w="1016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731520" y="3822192"/>
            <a:ext cx="1600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90일 PoC 목표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3017520" y="3794760"/>
            <a:ext cx="1115568" cy="237744"/>
          </a:xfrm>
          <a:prstGeom prst="roundRect">
            <a:avLst>
              <a:gd name="adj" fmla="val 30769"/>
            </a:avLst>
          </a:prstGeom>
          <a:solidFill>
            <a:srgbClr val="FFF3DC"/>
          </a:solidFill>
          <a:ln w="12700">
            <a:solidFill>
              <a:srgbClr val="FFF3DC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3090672" y="3803904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9B6200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목표 · 아직 미검증</a:t>
            </a:r>
            <a:endParaRPr lang="en-US" sz="740" dirty="0"/>
          </a:p>
        </p:txBody>
      </p:sp>
      <p:sp>
        <p:nvSpPr>
          <p:cNvPr id="34" name="Shape 32"/>
          <p:cNvSpPr/>
          <p:nvPr/>
        </p:nvSpPr>
        <p:spPr>
          <a:xfrm>
            <a:off x="731520" y="4233672"/>
            <a:ext cx="1572768" cy="530352"/>
          </a:xfrm>
          <a:prstGeom prst="roundRect">
            <a:avLst>
              <a:gd name="adj" fmla="val 13793"/>
            </a:avLst>
          </a:prstGeom>
          <a:solidFill>
            <a:srgbClr val="EEF2F8"/>
          </a:solidFill>
          <a:ln w="10160">
            <a:solidFill>
              <a:srgbClr val="EEF2F8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850392" y="4306824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≥80%</a:t>
            </a:r>
            <a:endParaRPr lang="en-US" sz="1220" dirty="0"/>
          </a:p>
        </p:txBody>
      </p:sp>
      <p:sp>
        <p:nvSpPr>
          <p:cNvPr id="36" name="Text 34"/>
          <p:cNvSpPr/>
          <p:nvPr/>
        </p:nvSpPr>
        <p:spPr>
          <a:xfrm>
            <a:off x="1408176" y="4306824"/>
            <a:ext cx="777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유효 분석률</a:t>
            </a:r>
            <a:endParaRPr lang="en-US" sz="780" dirty="0"/>
          </a:p>
        </p:txBody>
      </p:sp>
      <p:sp>
        <p:nvSpPr>
          <p:cNvPr id="37" name="Shape 35"/>
          <p:cNvSpPr/>
          <p:nvPr/>
        </p:nvSpPr>
        <p:spPr>
          <a:xfrm>
            <a:off x="2459736" y="4233672"/>
            <a:ext cx="1572768" cy="530352"/>
          </a:xfrm>
          <a:prstGeom prst="roundRect">
            <a:avLst>
              <a:gd name="adj" fmla="val 13793"/>
            </a:avLst>
          </a:prstGeom>
          <a:solidFill>
            <a:srgbClr val="EEF2F8"/>
          </a:solidFill>
          <a:ln w="10160">
            <a:solidFill>
              <a:srgbClr val="EEF2F8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2578608" y="4306824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≥95%</a:t>
            </a:r>
            <a:endParaRPr lang="en-US" sz="1220" dirty="0"/>
          </a:p>
        </p:txBody>
      </p:sp>
      <p:sp>
        <p:nvSpPr>
          <p:cNvPr id="39" name="Text 37"/>
          <p:cNvSpPr/>
          <p:nvPr/>
        </p:nvSpPr>
        <p:spPr>
          <a:xfrm>
            <a:off x="3136392" y="4306824"/>
            <a:ext cx="777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핵심필드 정확도</a:t>
            </a:r>
            <a:endParaRPr lang="en-US" sz="780" dirty="0"/>
          </a:p>
        </p:txBody>
      </p:sp>
      <p:sp>
        <p:nvSpPr>
          <p:cNvPr id="40" name="Shape 38"/>
          <p:cNvSpPr/>
          <p:nvPr/>
        </p:nvSpPr>
        <p:spPr>
          <a:xfrm>
            <a:off x="731520" y="4892040"/>
            <a:ext cx="1572768" cy="530352"/>
          </a:xfrm>
          <a:prstGeom prst="roundRect">
            <a:avLst>
              <a:gd name="adj" fmla="val 13793"/>
            </a:avLst>
          </a:prstGeom>
          <a:solidFill>
            <a:srgbClr val="FDEBEC"/>
          </a:solidFill>
          <a:ln w="10160">
            <a:solidFill>
              <a:srgbClr val="FDEBEC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850392" y="496519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E5484D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0건</a:t>
            </a:r>
            <a:endParaRPr lang="en-US" sz="1220" dirty="0"/>
          </a:p>
        </p:txBody>
      </p:sp>
      <p:sp>
        <p:nvSpPr>
          <p:cNvPr id="42" name="Text 40"/>
          <p:cNvSpPr/>
          <p:nvPr/>
        </p:nvSpPr>
        <p:spPr>
          <a:xfrm>
            <a:off x="1408176" y="4965192"/>
            <a:ext cx="777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치명적 오추천</a:t>
            </a:r>
            <a:endParaRPr lang="en-US" sz="780" dirty="0"/>
          </a:p>
        </p:txBody>
      </p:sp>
      <p:sp>
        <p:nvSpPr>
          <p:cNvPr id="43" name="Shape 41"/>
          <p:cNvSpPr/>
          <p:nvPr/>
        </p:nvSpPr>
        <p:spPr>
          <a:xfrm>
            <a:off x="2459736" y="4892040"/>
            <a:ext cx="1572768" cy="530352"/>
          </a:xfrm>
          <a:prstGeom prst="roundRect">
            <a:avLst>
              <a:gd name="adj" fmla="val 13793"/>
            </a:avLst>
          </a:prstGeom>
          <a:solidFill>
            <a:srgbClr val="EEF2F8"/>
          </a:solidFill>
          <a:ln w="10160">
            <a:solidFill>
              <a:srgbClr val="EEF2F8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2578608" y="496519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−50%</a:t>
            </a:r>
            <a:endParaRPr lang="en-US" sz="1220" dirty="0"/>
          </a:p>
        </p:txBody>
      </p:sp>
      <p:sp>
        <p:nvSpPr>
          <p:cNvPr id="45" name="Text 43"/>
          <p:cNvSpPr/>
          <p:nvPr/>
        </p:nvSpPr>
        <p:spPr>
          <a:xfrm>
            <a:off x="3136392" y="4965192"/>
            <a:ext cx="777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사전검토 시간 · 가설</a:t>
            </a:r>
            <a:endParaRPr lang="en-US" sz="780" dirty="0"/>
          </a:p>
        </p:txBody>
      </p:sp>
      <p:sp>
        <p:nvSpPr>
          <p:cNvPr id="46" name="Shape 44"/>
          <p:cNvSpPr/>
          <p:nvPr/>
        </p:nvSpPr>
        <p:spPr>
          <a:xfrm>
            <a:off x="4617720" y="3611880"/>
            <a:ext cx="4023360" cy="1984248"/>
          </a:xfrm>
          <a:prstGeom prst="roundRect">
            <a:avLst>
              <a:gd name="adj" fmla="val 3687"/>
            </a:avLst>
          </a:prstGeom>
          <a:solidFill>
            <a:srgbClr val="FFFFFF"/>
          </a:solidFill>
          <a:ln w="1016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4846320" y="3822192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한계와 다음 단계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4846320" y="4197096"/>
            <a:ext cx="658368" cy="246888"/>
          </a:xfrm>
          <a:prstGeom prst="roundRect">
            <a:avLst>
              <a:gd name="adj" fmla="val 29630"/>
            </a:avLst>
          </a:prstGeom>
          <a:solidFill>
            <a:srgbClr val="1769FF"/>
          </a:solidFill>
          <a:ln w="12700">
            <a:solidFill>
              <a:srgbClr val="1769FF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4919472" y="4206240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STEP 1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5650992" y="418795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90일 PoC</a:t>
            </a:r>
            <a:endParaRPr lang="en-US" sz="870" dirty="0"/>
          </a:p>
        </p:txBody>
      </p:sp>
      <p:sp>
        <p:nvSpPr>
          <p:cNvPr id="51" name="Text 49"/>
          <p:cNvSpPr/>
          <p:nvPr/>
        </p:nvSpPr>
        <p:spPr>
          <a:xfrm>
            <a:off x="6784848" y="4187952"/>
            <a:ext cx="16093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7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익명 실제 사례 100~300건으로 정확도·시간절감·유용성 검증</a:t>
            </a:r>
            <a:endParaRPr lang="en-US" sz="730" dirty="0"/>
          </a:p>
        </p:txBody>
      </p:sp>
      <p:sp>
        <p:nvSpPr>
          <p:cNvPr id="52" name="Shape 50"/>
          <p:cNvSpPr/>
          <p:nvPr/>
        </p:nvSpPr>
        <p:spPr>
          <a:xfrm>
            <a:off x="4846320" y="4636008"/>
            <a:ext cx="658368" cy="246888"/>
          </a:xfrm>
          <a:prstGeom prst="roundRect">
            <a:avLst>
              <a:gd name="adj" fmla="val 2963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4919472" y="4645152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STEP 2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5650992" y="462686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내부 데이터 연계</a:t>
            </a:r>
            <a:endParaRPr lang="en-US" sz="870" dirty="0"/>
          </a:p>
        </p:txBody>
      </p:sp>
      <p:sp>
        <p:nvSpPr>
          <p:cNvPr id="55" name="Text 53"/>
          <p:cNvSpPr/>
          <p:nvPr/>
        </p:nvSpPr>
        <p:spPr>
          <a:xfrm>
            <a:off x="6784848" y="4626864"/>
            <a:ext cx="16093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7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실시간 수송력·실운임·역·셔틀 및 권한·감사·버전관리</a:t>
            </a:r>
            <a:endParaRPr lang="en-US" sz="730" dirty="0"/>
          </a:p>
        </p:txBody>
      </p:sp>
      <p:sp>
        <p:nvSpPr>
          <p:cNvPr id="56" name="Shape 54"/>
          <p:cNvSpPr/>
          <p:nvPr/>
        </p:nvSpPr>
        <p:spPr>
          <a:xfrm>
            <a:off x="4846320" y="5074920"/>
            <a:ext cx="658368" cy="246888"/>
          </a:xfrm>
          <a:prstGeom prst="roundRect">
            <a:avLst>
              <a:gd name="adj" fmla="val 2963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  <p:txBody>
          <a:bodyPr/>
          <a:p/>
        </p:txBody>
      </p:sp>
      <p:sp>
        <p:nvSpPr>
          <p:cNvPr id="57" name="Text 55"/>
          <p:cNvSpPr/>
          <p:nvPr/>
        </p:nvSpPr>
        <p:spPr>
          <a:xfrm>
            <a:off x="4919472" y="5084064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F5AC7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STEP 3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5650992" y="5065776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회랑·품목 확장</a:t>
            </a:r>
            <a:endParaRPr lang="en-US" sz="870" dirty="0"/>
          </a:p>
        </p:txBody>
      </p:sp>
      <p:sp>
        <p:nvSpPr>
          <p:cNvPr id="59" name="Text 57"/>
          <p:cNvSpPr/>
          <p:nvPr/>
        </p:nvSpPr>
        <p:spPr>
          <a:xfrm>
            <a:off x="6784848" y="5065776"/>
            <a:ext cx="16093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73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다른 항만·산업단지·품목과 학습 랭킹·실시간 재계획</a:t>
            </a:r>
            <a:endParaRPr lang="en-US" sz="730" dirty="0"/>
          </a:p>
        </p:txBody>
      </p:sp>
      <p:sp>
        <p:nvSpPr>
          <p:cNvPr id="60" name="Shape 58"/>
          <p:cNvSpPr/>
          <p:nvPr/>
        </p:nvSpPr>
        <p:spPr>
          <a:xfrm>
            <a:off x="4846320" y="5340096"/>
            <a:ext cx="3547872" cy="256032"/>
          </a:xfrm>
          <a:prstGeom prst="roundRect">
            <a:avLst>
              <a:gd name="adj" fmla="val 28571"/>
            </a:avLst>
          </a:prstGeom>
          <a:solidFill>
            <a:srgbClr val="FDEBEC"/>
          </a:solidFill>
          <a:ln w="10160">
            <a:solidFill>
              <a:srgbClr val="FDEBEC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4956048" y="5376672"/>
            <a:ext cx="33284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E5484D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현재 한계 · 공개/데모 데이터 · 대표 1개 회랑 · 실시간 실운임·수송력 미연결</a:t>
            </a:r>
            <a:endParaRPr lang="en-US" sz="690" dirty="0"/>
          </a:p>
        </p:txBody>
      </p:sp>
      <p:sp>
        <p:nvSpPr>
          <p:cNvPr id="62" name="Text 60"/>
          <p:cNvSpPr/>
          <p:nvPr/>
        </p:nvSpPr>
        <p:spPr>
          <a:xfrm>
            <a:off x="475488" y="6254496"/>
            <a:ext cx="7726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i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※ 상단 수치는 해커톤 가상 시나리오의 예상값이며 실제 성과가 아닙니다. PoC 수치는 향후 목표입니다.</a:t>
            </a:r>
            <a:endParaRPr lang="en-US" sz="720" dirty="0"/>
          </a:p>
        </p:txBody>
      </p:sp>
      <p:sp>
        <p:nvSpPr>
          <p:cNvPr id="63" name="Shape 61"/>
          <p:cNvSpPr/>
          <p:nvPr/>
        </p:nvSpPr>
        <p:spPr>
          <a:xfrm>
            <a:off x="475488" y="6437376"/>
            <a:ext cx="8193024" cy="0"/>
          </a:xfrm>
          <a:prstGeom prst="line">
            <a:avLst/>
          </a:prstGeom>
          <a:noFill/>
          <a:ln w="889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64" name="Text 62"/>
          <p:cNvSpPr/>
          <p:nvPr/>
        </p:nvSpPr>
        <p:spPr>
          <a:xfrm>
            <a:off x="475488" y="6492240"/>
            <a:ext cx="3886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MOVE AI CHALLENGE 2026 · 레일 물류</a:t>
            </a:r>
            <a:endParaRPr lang="en-US" sz="750" dirty="0"/>
          </a:p>
        </p:txBody>
      </p:sp>
      <p:sp>
        <p:nvSpPr>
          <p:cNvPr id="65" name="Text 63"/>
          <p:cNvSpPr/>
          <p:nvPr/>
        </p:nvSpPr>
        <p:spPr>
          <a:xfrm>
            <a:off x="8229600" y="649224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10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347472"/>
            <a:ext cx="502920" cy="274320"/>
          </a:xfrm>
          <a:prstGeom prst="roundRect">
            <a:avLst>
              <a:gd name="adj" fmla="val 2666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356616"/>
            <a:ext cx="35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33856" y="274320"/>
            <a:ext cx="7178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기타 · 시연 시나리오 및 제출 정보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43000" y="740664"/>
            <a:ext cx="7360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8분 안에 문제, 역제안, 화차 채움, 변동 대응, 검토 요청까지 하나의 이야기로 보여줍니다.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75488" y="1078992"/>
            <a:ext cx="8193024" cy="0"/>
          </a:xfrm>
          <a:prstGeom prst="line">
            <a:avLst/>
          </a:prstGeom>
          <a:noFill/>
          <a:ln w="1397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02920" y="130759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8분 시연 타임라인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68096" y="2011680"/>
            <a:ext cx="6967728" cy="0"/>
          </a:xfrm>
          <a:prstGeom prst="line">
            <a:avLst/>
          </a:prstGeom>
          <a:noFill/>
          <a:ln w="27940">
            <a:solidFill>
              <a:srgbClr val="1769FF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21208" y="1764792"/>
            <a:ext cx="493776" cy="493776"/>
          </a:xfrm>
          <a:prstGeom prst="ellipse">
            <a:avLst/>
          </a:prstGeom>
          <a:solidFill>
            <a:srgbClr val="1769FF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521208" y="1865376"/>
            <a:ext cx="493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47472" y="2322576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0:00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246888" y="2587752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문제·진입</a:t>
            </a:r>
            <a:endParaRPr lang="en-US" sz="780" dirty="0"/>
          </a:p>
        </p:txBody>
      </p:sp>
      <p:sp>
        <p:nvSpPr>
          <p:cNvPr id="13" name="Shape 11"/>
          <p:cNvSpPr/>
          <p:nvPr/>
        </p:nvSpPr>
        <p:spPr>
          <a:xfrm>
            <a:off x="1682496" y="1764792"/>
            <a:ext cx="493776" cy="493776"/>
          </a:xfrm>
          <a:prstGeom prst="ellipse">
            <a:avLst/>
          </a:prstGeom>
          <a:solidFill>
            <a:srgbClr val="1769FF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682496" y="1865376"/>
            <a:ext cx="493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2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508760" y="2322576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0:50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1408176" y="2587752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메일·조정 축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2843784" y="1764792"/>
            <a:ext cx="493776" cy="493776"/>
          </a:xfrm>
          <a:prstGeom prst="ellipse">
            <a:avLst/>
          </a:prstGeom>
          <a:solidFill>
            <a:srgbClr val="1769FF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2843784" y="1865376"/>
            <a:ext cx="493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3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670048" y="2322576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1:40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2569464" y="2587752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AI 역제안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4005072" y="1764792"/>
            <a:ext cx="493776" cy="493776"/>
          </a:xfrm>
          <a:prstGeom prst="ellipse">
            <a:avLst/>
          </a:prstGeom>
          <a:solidFill>
            <a:srgbClr val="1769FF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4005072" y="1865376"/>
            <a:ext cx="493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4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831336" y="2322576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3:30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730752" y="2587752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D2D 비교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5166360" y="1764792"/>
            <a:ext cx="493776" cy="493776"/>
          </a:xfrm>
          <a:prstGeom prst="ellipse">
            <a:avLst/>
          </a:prstGeom>
          <a:solidFill>
            <a:srgbClr val="0A7C50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5166360" y="1865376"/>
            <a:ext cx="493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5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992624" y="2322576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4:20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4892040" y="2587752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18TEU 달성</a:t>
            </a:r>
            <a:endParaRPr lang="en-US" sz="780" dirty="0"/>
          </a:p>
        </p:txBody>
      </p:sp>
      <p:sp>
        <p:nvSpPr>
          <p:cNvPr id="29" name="Shape 27"/>
          <p:cNvSpPr/>
          <p:nvPr/>
        </p:nvSpPr>
        <p:spPr>
          <a:xfrm>
            <a:off x="6327648" y="1764792"/>
            <a:ext cx="493776" cy="493776"/>
          </a:xfrm>
          <a:prstGeom prst="ellipse">
            <a:avLst/>
          </a:prstGeom>
          <a:solidFill>
            <a:srgbClr val="0A7C50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6327648" y="1865376"/>
            <a:ext cx="493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6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6153912" y="2322576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5:20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053328" y="2587752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이탈·대체</a:t>
            </a:r>
            <a:endParaRPr lang="en-US" sz="780" dirty="0"/>
          </a:p>
        </p:txBody>
      </p:sp>
      <p:sp>
        <p:nvSpPr>
          <p:cNvPr id="33" name="Shape 31"/>
          <p:cNvSpPr/>
          <p:nvPr/>
        </p:nvSpPr>
        <p:spPr>
          <a:xfrm>
            <a:off x="7488936" y="1764792"/>
            <a:ext cx="493776" cy="493776"/>
          </a:xfrm>
          <a:prstGeom prst="ellipse">
            <a:avLst/>
          </a:prstGeom>
          <a:solidFill>
            <a:srgbClr val="0A7C50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7488936" y="1865376"/>
            <a:ext cx="4937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7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7315200" y="2322576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6:40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7214616" y="2587752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검토·사유 저장</a:t>
            </a:r>
            <a:endParaRPr lang="en-US" sz="780" dirty="0"/>
          </a:p>
        </p:txBody>
      </p:sp>
      <p:sp>
        <p:nvSpPr>
          <p:cNvPr id="37" name="Shape 35"/>
          <p:cNvSpPr/>
          <p:nvPr/>
        </p:nvSpPr>
        <p:spPr>
          <a:xfrm>
            <a:off x="502920" y="3127248"/>
            <a:ext cx="5120640" cy="2112264"/>
          </a:xfrm>
          <a:prstGeom prst="roundRect">
            <a:avLst>
              <a:gd name="adj" fmla="val 3463"/>
            </a:avLst>
          </a:prstGeom>
          <a:solidFill>
            <a:srgbClr val="FFFFFF"/>
          </a:solidFill>
          <a:ln w="1016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731520" y="3355848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B1F3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안전·신뢰 체크리스트</a:t>
            </a:r>
            <a:endParaRPr lang="en-US" sz="1220" dirty="0"/>
          </a:p>
        </p:txBody>
      </p:sp>
      <p:sp>
        <p:nvSpPr>
          <p:cNvPr id="39" name="Shape 37"/>
          <p:cNvSpPr/>
          <p:nvPr/>
        </p:nvSpPr>
        <p:spPr>
          <a:xfrm>
            <a:off x="758952" y="3803904"/>
            <a:ext cx="164592" cy="164592"/>
          </a:xfrm>
          <a:prstGeom prst="ellipse">
            <a:avLst/>
          </a:prstGeom>
          <a:solidFill>
            <a:srgbClr val="39D98A"/>
          </a:solidFill>
          <a:ln w="12700">
            <a:solidFill>
              <a:srgbClr val="39D98A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749808" y="3776472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✓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1042416" y="3749040"/>
            <a:ext cx="4315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9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확정·예상·확인 필요와 근거·기준일·검토주체를 함께 표시</a:t>
            </a:r>
            <a:endParaRPr lang="en-US" sz="890" dirty="0"/>
          </a:p>
        </p:txBody>
      </p:sp>
      <p:sp>
        <p:nvSpPr>
          <p:cNvPr id="42" name="Shape 40"/>
          <p:cNvSpPr/>
          <p:nvPr/>
        </p:nvSpPr>
        <p:spPr>
          <a:xfrm>
            <a:off x="758952" y="4133088"/>
            <a:ext cx="164592" cy="164592"/>
          </a:xfrm>
          <a:prstGeom prst="ellipse">
            <a:avLst/>
          </a:prstGeom>
          <a:solidFill>
            <a:srgbClr val="39D98A"/>
          </a:solidFill>
          <a:ln w="12700">
            <a:solidFill>
              <a:srgbClr val="39D98A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749808" y="4105656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✓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042416" y="4078224"/>
            <a:ext cx="4315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9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위험물·특수화물은 자동 계산을 중단하고 담당자 연결</a:t>
            </a:r>
            <a:endParaRPr lang="en-US" sz="890" dirty="0"/>
          </a:p>
        </p:txBody>
      </p:sp>
      <p:sp>
        <p:nvSpPr>
          <p:cNvPr id="45" name="Shape 43"/>
          <p:cNvSpPr/>
          <p:nvPr/>
        </p:nvSpPr>
        <p:spPr>
          <a:xfrm>
            <a:off x="758952" y="4462272"/>
            <a:ext cx="164592" cy="164592"/>
          </a:xfrm>
          <a:prstGeom prst="ellipse">
            <a:avLst/>
          </a:prstGeom>
          <a:solidFill>
            <a:srgbClr val="39D98A"/>
          </a:solidFill>
          <a:ln w="12700">
            <a:solidFill>
              <a:srgbClr val="39D98A"/>
            </a:solidFill>
            <a:prstDash val="solid"/>
          </a:ln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749808" y="4434840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✓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1042416" y="4407408"/>
            <a:ext cx="4315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9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다른 회사명·품목·상세 주소·운임·연락처 비공개</a:t>
            </a:r>
            <a:endParaRPr lang="en-US" sz="890" dirty="0"/>
          </a:p>
        </p:txBody>
      </p:sp>
      <p:sp>
        <p:nvSpPr>
          <p:cNvPr id="48" name="Shape 46"/>
          <p:cNvSpPr/>
          <p:nvPr/>
        </p:nvSpPr>
        <p:spPr>
          <a:xfrm>
            <a:off x="758952" y="4791456"/>
            <a:ext cx="164592" cy="164592"/>
          </a:xfrm>
          <a:prstGeom prst="ellipse">
            <a:avLst/>
          </a:prstGeom>
          <a:solidFill>
            <a:srgbClr val="39D98A"/>
          </a:solidFill>
          <a:ln w="12700">
            <a:solidFill>
              <a:srgbClr val="39D98A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749808" y="4764024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✓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042416" y="4736592"/>
            <a:ext cx="4315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90" dirty="0">
                <a:solidFill>
                  <a:srgbClr val="172033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예약·계약·결제·배차를 자동 확정하지 않음</a:t>
            </a:r>
            <a:endParaRPr lang="en-US" sz="890" dirty="0"/>
          </a:p>
        </p:txBody>
      </p:sp>
      <p:sp>
        <p:nvSpPr>
          <p:cNvPr id="51" name="Shape 49"/>
          <p:cNvSpPr/>
          <p:nvPr/>
        </p:nvSpPr>
        <p:spPr>
          <a:xfrm>
            <a:off x="5870448" y="3127248"/>
            <a:ext cx="2770632" cy="2112264"/>
          </a:xfrm>
          <a:prstGeom prst="roundRect">
            <a:avLst>
              <a:gd name="adj" fmla="val 3463"/>
            </a:avLst>
          </a:prstGeom>
          <a:solidFill>
            <a:srgbClr val="0B1F3A"/>
          </a:solidFill>
          <a:ln w="1016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52" name="Text 50"/>
          <p:cNvSpPr/>
          <p:nvPr/>
        </p:nvSpPr>
        <p:spPr>
          <a:xfrm>
            <a:off x="6126480" y="3355848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제출 정보</a:t>
            </a:r>
            <a:endParaRPr lang="en-US" sz="1220" dirty="0"/>
          </a:p>
        </p:txBody>
      </p:sp>
      <p:sp>
        <p:nvSpPr>
          <p:cNvPr id="53" name="Text 51"/>
          <p:cNvSpPr/>
          <p:nvPr/>
        </p:nvSpPr>
        <p:spPr>
          <a:xfrm>
            <a:off x="6126480" y="3813048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86B7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GitHub</a:t>
            </a:r>
            <a:endParaRPr lang="en-US" sz="820" dirty="0"/>
          </a:p>
        </p:txBody>
      </p:sp>
      <p:sp>
        <p:nvSpPr>
          <p:cNvPr id="54" name="Text 52">
            <a:hlinkClick r:id="rId1" tooltip=""/>
          </p:cNvPr>
          <p:cNvSpPr/>
          <p:nvPr/>
        </p:nvSpPr>
        <p:spPr>
          <a:xfrm>
            <a:off x="6126480" y="4041648"/>
            <a:ext cx="22494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u="sng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github.com/tory-win/Galaxy_Express_99</a:t>
            </a:r>
            <a:endParaRPr lang="en-US" sz="840" dirty="0"/>
          </a:p>
        </p:txBody>
      </p:sp>
      <p:sp>
        <p:nvSpPr>
          <p:cNvPr id="55" name="Text 53"/>
          <p:cNvSpPr/>
          <p:nvPr/>
        </p:nvSpPr>
        <p:spPr>
          <a:xfrm>
            <a:off x="6126480" y="4416552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9D98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LIVE DEMO</a:t>
            </a:r>
            <a:endParaRPr lang="en-US" sz="820" dirty="0"/>
          </a:p>
        </p:txBody>
      </p:sp>
      <p:sp>
        <p:nvSpPr>
          <p:cNvPr id="56" name="Text 54">
            <a:hlinkClick r:id="rId2" tooltip=""/>
          </p:cNvPr>
          <p:cNvSpPr/>
          <p:nvPr/>
        </p:nvSpPr>
        <p:spPr>
          <a:xfrm>
            <a:off x="6126480" y="4636008"/>
            <a:ext cx="22494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u="sng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macmini.tailbba978.ts.net/…/preview/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6126480" y="4974336"/>
            <a:ext cx="22494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C8D7EA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데모 영상 · 별도 제출</a:t>
            </a:r>
            <a:endParaRPr lang="en-US" sz="810" dirty="0"/>
          </a:p>
        </p:txBody>
      </p:sp>
      <p:sp>
        <p:nvSpPr>
          <p:cNvPr id="58" name="Shape 56"/>
          <p:cNvSpPr/>
          <p:nvPr/>
        </p:nvSpPr>
        <p:spPr>
          <a:xfrm>
            <a:off x="502920" y="5559552"/>
            <a:ext cx="8138160" cy="566928"/>
          </a:xfrm>
          <a:prstGeom prst="roundRect">
            <a:avLst>
              <a:gd name="adj" fmla="val 12903"/>
            </a:avLst>
          </a:prstGeom>
          <a:solidFill>
            <a:srgbClr val="1769FF"/>
          </a:solidFill>
          <a:ln w="10160">
            <a:solidFill>
              <a:srgbClr val="1769FF"/>
            </a:solidFill>
            <a:prstDash val="solid"/>
          </a:ln>
        </p:spPr>
        <p:txBody>
          <a:bodyPr/>
          <a:p/>
        </p:txBody>
      </p:sp>
      <p:sp>
        <p:nvSpPr>
          <p:cNvPr id="59" name="Text 57"/>
          <p:cNvSpPr/>
          <p:nvPr/>
        </p:nvSpPr>
        <p:spPr>
          <a:xfrm>
            <a:off x="713232" y="5678424"/>
            <a:ext cx="7717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“철도를 안내하는 AI가 아니라, 흩어진 화물과 남은 자리를 연결해 실제 수송 조건을 만드는 AI입니다.”</a:t>
            </a:r>
            <a:endParaRPr lang="en-US" sz="1260" dirty="0"/>
          </a:p>
        </p:txBody>
      </p:sp>
      <p:sp>
        <p:nvSpPr>
          <p:cNvPr id="60" name="Shape 58"/>
          <p:cNvSpPr/>
          <p:nvPr/>
        </p:nvSpPr>
        <p:spPr>
          <a:xfrm>
            <a:off x="475488" y="6437376"/>
            <a:ext cx="8193024" cy="0"/>
          </a:xfrm>
          <a:prstGeom prst="line">
            <a:avLst/>
          </a:prstGeom>
          <a:noFill/>
          <a:ln w="8890">
            <a:solidFill>
              <a:srgbClr val="D7DFEA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475488" y="6492240"/>
            <a:ext cx="3886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MOVE AI CHALLENGE 2026 · 레일 물류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8229600" y="6492240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Nanum Gothic" pitchFamily="34" charset="0"/>
                <a:ea typeface="Nanum Gothic" pitchFamily="34" charset="-122"/>
                <a:cs typeface="Nanum Gothic" pitchFamily="34" charset="-120"/>
              </a:rPr>
              <a:t>11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anum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anum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Galaxy Express 99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레일 물류 최종 결과보고서</dc:title>
  <dc:subject>MOVE AI CHALLENGE 2026 발표 최적화 검토본 · 핵심 메시지·여백·텍스트 가독성 재점검</dc:subject>
  <dc:creator>Galaxy Express 99</dc:creator>
  <cp:lastModifiedBy>Galaxy Express 99</cp:lastModifiedBy>
  <cp:revision>1</cp:revision>
  <dcterms:created xsi:type="dcterms:W3CDTF">2026-08-13T04:57:53Z</dcterms:created>
  <dcterms:modified xsi:type="dcterms:W3CDTF">2026-08-13T04:57:53Z</dcterms:modified>
  <dc:description>11페이지 발표 구성 유지 · 핵심 흐름: 문제→역제안→공동수송→사람 승인→PoC 검증</dc:description>
</cp:coreProperties>
</file>